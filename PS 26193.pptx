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Lst>
  <p:sldSz cy="6858000" cx="12192000"/>
  <p:notesSz cx="12192000" cy="6858000"/>
  <p:embeddedFontLst>
    <p:embeddedFont>
      <p:font typeface="Oswald"/>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font" Target="fonts/Oswald-regular.fntdata"/><Relationship Id="rId10" Type="http://schemas.openxmlformats.org/officeDocument/2006/relationships/slide" Target="slides/slide6.xml"/><Relationship Id="rId12" Type="http://schemas.openxmlformats.org/officeDocument/2006/relationships/font" Target="fonts/Oswald-bold.fnt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 name="Google Shape;43;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2622143" y="236778"/>
            <a:ext cx="6954062"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body"/>
          </p:nvPr>
        </p:nvSpPr>
        <p:spPr>
          <a:xfrm>
            <a:off x="1029500" y="2827337"/>
            <a:ext cx="8878570" cy="295147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2"/>
          <p:cNvSpPr txBox="1"/>
          <p:nvPr>
            <p:ph idx="11" type="ftr"/>
          </p:nvPr>
        </p:nvSpPr>
        <p:spPr>
          <a:xfrm>
            <a:off x="4993817" y="6445462"/>
            <a:ext cx="2508250" cy="20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0" type="dt"/>
          </p:nvPr>
        </p:nvSpPr>
        <p:spPr>
          <a:xfrm>
            <a:off x="609917" y="6377940"/>
            <a:ext cx="28056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11361305" y="6445462"/>
            <a:ext cx="180975" cy="203200"/>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1pPr>
            <a:lvl2pPr indent="0" lvl="1"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2pPr>
            <a:lvl3pPr indent="0" lvl="2"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3pPr>
            <a:lvl4pPr indent="0" lvl="3"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4pPr>
            <a:lvl5pPr indent="0" lvl="4"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5pPr>
            <a:lvl6pPr indent="0" lvl="5"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6pPr>
            <a:lvl7pPr indent="0" lvl="6"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7pPr>
            <a:lvl8pPr indent="0" lvl="7"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8pPr>
            <a:lvl9pPr indent="0" lvl="8"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 name="Shape 19"/>
        <p:cNvGrpSpPr/>
        <p:nvPr/>
      </p:nvGrpSpPr>
      <p:grpSpPr>
        <a:xfrm>
          <a:off x="0" y="0"/>
          <a:ext cx="0" cy="0"/>
          <a:chOff x="0" y="0"/>
          <a:chExt cx="0" cy="0"/>
        </a:xfrm>
      </p:grpSpPr>
      <p:sp>
        <p:nvSpPr>
          <p:cNvPr id="20" name="Google Shape;20;p3"/>
          <p:cNvSpPr txBox="1"/>
          <p:nvPr>
            <p:ph type="ctrTitle"/>
          </p:nvPr>
        </p:nvSpPr>
        <p:spPr>
          <a:xfrm>
            <a:off x="914876" y="2125980"/>
            <a:ext cx="10368598"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829752" y="3840480"/>
            <a:ext cx="8538845"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1" type="ftr"/>
          </p:nvPr>
        </p:nvSpPr>
        <p:spPr>
          <a:xfrm>
            <a:off x="4993817" y="6445462"/>
            <a:ext cx="2508250" cy="20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0" type="dt"/>
          </p:nvPr>
        </p:nvSpPr>
        <p:spPr>
          <a:xfrm>
            <a:off x="609917" y="6377940"/>
            <a:ext cx="28056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11361305" y="6445462"/>
            <a:ext cx="180975" cy="203200"/>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1pPr>
            <a:lvl2pPr indent="0" lvl="1"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2pPr>
            <a:lvl3pPr indent="0" lvl="2"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3pPr>
            <a:lvl4pPr indent="0" lvl="3"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4pPr>
            <a:lvl5pPr indent="0" lvl="4"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5pPr>
            <a:lvl6pPr indent="0" lvl="5"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6pPr>
            <a:lvl7pPr indent="0" lvl="6"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7pPr>
            <a:lvl8pPr indent="0" lvl="7"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8pPr>
            <a:lvl9pPr indent="0" lvl="8"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4"/>
          <p:cNvSpPr txBox="1"/>
          <p:nvPr>
            <p:ph type="title"/>
          </p:nvPr>
        </p:nvSpPr>
        <p:spPr>
          <a:xfrm>
            <a:off x="2622143" y="236778"/>
            <a:ext cx="6954062"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609917" y="1577340"/>
            <a:ext cx="5306282"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4"/>
          <p:cNvSpPr txBox="1"/>
          <p:nvPr>
            <p:ph idx="2" type="body"/>
          </p:nvPr>
        </p:nvSpPr>
        <p:spPr>
          <a:xfrm>
            <a:off x="6282150" y="1577340"/>
            <a:ext cx="5306282"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993817" y="6445462"/>
            <a:ext cx="2508250" cy="20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0" type="dt"/>
          </p:nvPr>
        </p:nvSpPr>
        <p:spPr>
          <a:xfrm>
            <a:off x="609917" y="6377940"/>
            <a:ext cx="28056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11361305" y="6445462"/>
            <a:ext cx="180975" cy="203200"/>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1pPr>
            <a:lvl2pPr indent="0" lvl="1"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2pPr>
            <a:lvl3pPr indent="0" lvl="2"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3pPr>
            <a:lvl4pPr indent="0" lvl="3"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4pPr>
            <a:lvl5pPr indent="0" lvl="4"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5pPr>
            <a:lvl6pPr indent="0" lvl="5"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6pPr>
            <a:lvl7pPr indent="0" lvl="6"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7pPr>
            <a:lvl8pPr indent="0" lvl="7"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8pPr>
            <a:lvl9pPr indent="0" lvl="8"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5"/>
          <p:cNvSpPr txBox="1"/>
          <p:nvPr>
            <p:ph type="title"/>
          </p:nvPr>
        </p:nvSpPr>
        <p:spPr>
          <a:xfrm>
            <a:off x="2622143" y="236778"/>
            <a:ext cx="6954062"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4993817" y="6445462"/>
            <a:ext cx="2508250" cy="20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0" type="dt"/>
          </p:nvPr>
        </p:nvSpPr>
        <p:spPr>
          <a:xfrm>
            <a:off x="609917" y="6377940"/>
            <a:ext cx="28056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11361305" y="6445462"/>
            <a:ext cx="180975" cy="203200"/>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1pPr>
            <a:lvl2pPr indent="0" lvl="1"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2pPr>
            <a:lvl3pPr indent="0" lvl="2"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3pPr>
            <a:lvl4pPr indent="0" lvl="3"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4pPr>
            <a:lvl5pPr indent="0" lvl="4"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5pPr>
            <a:lvl6pPr indent="0" lvl="5"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6pPr>
            <a:lvl7pPr indent="0" lvl="6"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7pPr>
            <a:lvl8pPr indent="0" lvl="7"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8pPr>
            <a:lvl9pPr indent="0" lvl="8"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6"/>
          <p:cNvSpPr txBox="1"/>
          <p:nvPr>
            <p:ph idx="11" type="ftr"/>
          </p:nvPr>
        </p:nvSpPr>
        <p:spPr>
          <a:xfrm>
            <a:off x="4993817" y="6445462"/>
            <a:ext cx="2508250" cy="20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0" type="dt"/>
          </p:nvPr>
        </p:nvSpPr>
        <p:spPr>
          <a:xfrm>
            <a:off x="609917" y="6377940"/>
            <a:ext cx="28056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2" type="sldNum"/>
          </p:nvPr>
        </p:nvSpPr>
        <p:spPr>
          <a:xfrm>
            <a:off x="11361305" y="6445462"/>
            <a:ext cx="180975" cy="203200"/>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1pPr>
            <a:lvl2pPr indent="0" lvl="1"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2pPr>
            <a:lvl3pPr indent="0" lvl="2"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3pPr>
            <a:lvl4pPr indent="0" lvl="3"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4pPr>
            <a:lvl5pPr indent="0" lvl="4"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5pPr>
            <a:lvl6pPr indent="0" lvl="5"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6pPr>
            <a:lvl7pPr indent="0" lvl="6"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7pPr>
            <a:lvl8pPr indent="0" lvl="7"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8pPr>
            <a:lvl9pPr indent="0" lvl="8" marL="38100" marR="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6377393"/>
            <a:ext cx="12192000" cy="480695"/>
          </a:xfrm>
          <a:custGeom>
            <a:rect b="b" l="l" r="r" t="t"/>
            <a:pathLst>
              <a:path extrusionOk="0" h="480695" w="12192000">
                <a:moveTo>
                  <a:pt x="12191758" y="0"/>
                </a:moveTo>
                <a:lnTo>
                  <a:pt x="0" y="0"/>
                </a:lnTo>
                <a:lnTo>
                  <a:pt x="0" y="480250"/>
                </a:lnTo>
                <a:lnTo>
                  <a:pt x="12191758" y="480250"/>
                </a:lnTo>
                <a:lnTo>
                  <a:pt x="12191758" y="0"/>
                </a:lnTo>
                <a:close/>
              </a:path>
            </a:pathLst>
          </a:custGeom>
          <a:solidFill>
            <a:srgbClr val="7F7F7F">
              <a:alpha val="3490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
          <p:cNvSpPr/>
          <p:nvPr/>
        </p:nvSpPr>
        <p:spPr>
          <a:xfrm>
            <a:off x="0" y="6354355"/>
            <a:ext cx="12192000" cy="502920"/>
          </a:xfrm>
          <a:custGeom>
            <a:rect b="b" l="l" r="r" t="t"/>
            <a:pathLst>
              <a:path extrusionOk="0" h="502920" w="12192000">
                <a:moveTo>
                  <a:pt x="12191758" y="0"/>
                </a:moveTo>
                <a:lnTo>
                  <a:pt x="0" y="0"/>
                </a:lnTo>
                <a:lnTo>
                  <a:pt x="0" y="502919"/>
                </a:lnTo>
                <a:lnTo>
                  <a:pt x="6095885" y="502919"/>
                </a:lnTo>
                <a:lnTo>
                  <a:pt x="12191758" y="502919"/>
                </a:lnTo>
                <a:lnTo>
                  <a:pt x="12191758" y="0"/>
                </a:lnTo>
                <a:close/>
              </a:path>
            </a:pathLst>
          </a:custGeom>
          <a:solidFill>
            <a:srgbClr val="006FB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1"/>
          <p:cNvSpPr txBox="1"/>
          <p:nvPr>
            <p:ph type="title"/>
          </p:nvPr>
        </p:nvSpPr>
        <p:spPr>
          <a:xfrm>
            <a:off x="2622143" y="236778"/>
            <a:ext cx="6954062" cy="57404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36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
          <p:cNvSpPr txBox="1"/>
          <p:nvPr>
            <p:ph idx="1" type="body"/>
          </p:nvPr>
        </p:nvSpPr>
        <p:spPr>
          <a:xfrm>
            <a:off x="1029500" y="2827337"/>
            <a:ext cx="8878570" cy="295147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0" name="Google Shape;10;p1"/>
          <p:cNvSpPr txBox="1"/>
          <p:nvPr>
            <p:ph idx="11" type="ftr"/>
          </p:nvPr>
        </p:nvSpPr>
        <p:spPr>
          <a:xfrm>
            <a:off x="4993817" y="6445462"/>
            <a:ext cx="2508250" cy="2032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0" type="dt"/>
          </p:nvPr>
        </p:nvSpPr>
        <p:spPr>
          <a:xfrm>
            <a:off x="609917" y="6377940"/>
            <a:ext cx="280562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
          <p:cNvSpPr txBox="1"/>
          <p:nvPr>
            <p:ph idx="12" type="sldNum"/>
          </p:nvPr>
        </p:nvSpPr>
        <p:spPr>
          <a:xfrm>
            <a:off x="11361305" y="6445462"/>
            <a:ext cx="180975" cy="203200"/>
          </a:xfrm>
          <a:prstGeom prst="rect">
            <a:avLst/>
          </a:prstGeom>
          <a:noFill/>
          <a:ln>
            <a:noFill/>
          </a:ln>
        </p:spPr>
        <p:txBody>
          <a:bodyPr anchorCtr="0" anchor="t" bIns="0" lIns="0" spcFirstLastPara="1" rIns="0" wrap="square" tIns="0">
            <a:spAutoFit/>
          </a:bodyPr>
          <a:lstStyle>
            <a:lvl1pPr indent="0" lvl="0"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1pPr>
            <a:lvl2pPr indent="0" lvl="1"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2pPr>
            <a:lvl3pPr indent="0" lvl="2"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3pPr>
            <a:lvl4pPr indent="0" lvl="3"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4pPr>
            <a:lvl5pPr indent="0" lvl="4"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5pPr>
            <a:lvl6pPr indent="0" lvl="5"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6pPr>
            <a:lvl7pPr indent="0" lvl="6"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7pPr>
            <a:lvl8pPr indent="0" lvl="7"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8pPr>
            <a:lvl9pPr indent="0" lvl="8" marL="38100" marR="0" rtl="0" algn="l">
              <a:lnSpc>
                <a:spcPct val="100000"/>
              </a:lnSpc>
              <a:spcBef>
                <a:spcPts val="0"/>
              </a:spcBef>
              <a:spcAft>
                <a:spcPts val="0"/>
              </a:spcAft>
              <a:buClr>
                <a:srgbClr val="000000"/>
              </a:buClr>
              <a:buSzPts val="1200"/>
              <a:buFont typeface="Arial"/>
              <a:buNone/>
              <a:defRPr b="1" i="0" sz="1200" u="none" cap="none" strike="noStrike">
                <a:solidFill>
                  <a:schemeClr val="lt1"/>
                </a:solidFill>
                <a:latin typeface="Courier New"/>
                <a:ea typeface="Courier New"/>
                <a:cs typeface="Courier New"/>
                <a:sym typeface="Courier New"/>
              </a:defRPr>
            </a:lvl9pPr>
          </a:lstStyle>
          <a:p>
            <a:pPr indent="0" lvl="0" marL="38100" rtl="0" algn="l">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hyperlink" Target="https://soilhealth.dac.gov.in/" TargetMode="External"/><Relationship Id="rId10" Type="http://schemas.openxmlformats.org/officeDocument/2006/relationships/image" Target="../media/image1.png"/><Relationship Id="rId9" Type="http://schemas.openxmlformats.org/officeDocument/2006/relationships/hyperlink" Target="https://icar.gov.in/" TargetMode="External"/><Relationship Id="rId5" Type="http://schemas.openxmlformats.org/officeDocument/2006/relationships/hyperlink" Target="https://agmarknet.gov.in/" TargetMode="External"/><Relationship Id="rId6" Type="http://schemas.openxmlformats.org/officeDocument/2006/relationships/hyperlink" Target="https://www.enam.gov.in/" TargetMode="External"/><Relationship Id="rId7" Type="http://schemas.openxmlformats.org/officeDocument/2006/relationships/hyperlink" Target="https://mausam.imd.gov.in/" TargetMode="External"/><Relationship Id="rId8" Type="http://schemas.openxmlformats.org/officeDocument/2006/relationships/hyperlink" Target="https://icar.gov.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grpSp>
        <p:nvGrpSpPr>
          <p:cNvPr id="45" name="Google Shape;45;p7"/>
          <p:cNvGrpSpPr/>
          <p:nvPr/>
        </p:nvGrpSpPr>
        <p:grpSpPr>
          <a:xfrm>
            <a:off x="6280131" y="828945"/>
            <a:ext cx="4638675" cy="5154930"/>
            <a:chOff x="5656681" y="851395"/>
            <a:chExt cx="4638675" cy="5154930"/>
          </a:xfrm>
        </p:grpSpPr>
        <p:sp>
          <p:nvSpPr>
            <p:cNvPr id="46" name="Google Shape;46;p7"/>
            <p:cNvSpPr/>
            <p:nvPr/>
          </p:nvSpPr>
          <p:spPr>
            <a:xfrm>
              <a:off x="5656681" y="851395"/>
              <a:ext cx="4638675" cy="5154930"/>
            </a:xfrm>
            <a:custGeom>
              <a:rect b="b" l="l" r="r" t="t"/>
              <a:pathLst>
                <a:path extrusionOk="0" h="5154930" w="4638675">
                  <a:moveTo>
                    <a:pt x="1873072" y="0"/>
                  </a:moveTo>
                  <a:lnTo>
                    <a:pt x="1179715" y="0"/>
                  </a:lnTo>
                  <a:lnTo>
                    <a:pt x="1147053" y="5761"/>
                  </a:lnTo>
                  <a:lnTo>
                    <a:pt x="1091986" y="48606"/>
                  </a:lnTo>
                  <a:lnTo>
                    <a:pt x="1072083" y="83527"/>
                  </a:lnTo>
                  <a:lnTo>
                    <a:pt x="726122" y="880922"/>
                  </a:lnTo>
                  <a:lnTo>
                    <a:pt x="713363" y="920377"/>
                  </a:lnTo>
                  <a:lnTo>
                    <a:pt x="709115" y="962507"/>
                  </a:lnTo>
                  <a:lnTo>
                    <a:pt x="713363" y="1004548"/>
                  </a:lnTo>
                  <a:lnTo>
                    <a:pt x="726122" y="1044003"/>
                  </a:lnTo>
                  <a:lnTo>
                    <a:pt x="1072083" y="1841766"/>
                  </a:lnTo>
                  <a:lnTo>
                    <a:pt x="1092058" y="1876686"/>
                  </a:lnTo>
                  <a:lnTo>
                    <a:pt x="1118514" y="1903323"/>
                  </a:lnTo>
                  <a:lnTo>
                    <a:pt x="1092593" y="1962721"/>
                  </a:lnTo>
                  <a:lnTo>
                    <a:pt x="786599" y="2667965"/>
                  </a:lnTo>
                  <a:lnTo>
                    <a:pt x="769118" y="2713803"/>
                  </a:lnTo>
                  <a:lnTo>
                    <a:pt x="756631" y="2761970"/>
                  </a:lnTo>
                  <a:lnTo>
                    <a:pt x="749139" y="2811690"/>
                  </a:lnTo>
                  <a:lnTo>
                    <a:pt x="746642" y="2862186"/>
                  </a:lnTo>
                  <a:lnTo>
                    <a:pt x="749139" y="2912682"/>
                  </a:lnTo>
                  <a:lnTo>
                    <a:pt x="756631" y="2962402"/>
                  </a:lnTo>
                  <a:lnTo>
                    <a:pt x="769118" y="3010569"/>
                  </a:lnTo>
                  <a:lnTo>
                    <a:pt x="786599" y="3056407"/>
                  </a:lnTo>
                  <a:lnTo>
                    <a:pt x="1610283" y="4955768"/>
                  </a:lnTo>
                  <a:lnTo>
                    <a:pt x="1635778" y="5005560"/>
                  </a:lnTo>
                  <a:lnTo>
                    <a:pt x="1665921" y="5049074"/>
                  </a:lnTo>
                  <a:lnTo>
                    <a:pt x="1700159" y="5085807"/>
                  </a:lnTo>
                  <a:lnTo>
                    <a:pt x="1737936" y="5115253"/>
                  </a:lnTo>
                  <a:lnTo>
                    <a:pt x="1778699" y="5136910"/>
                  </a:lnTo>
                  <a:lnTo>
                    <a:pt x="1821893" y="5150274"/>
                  </a:lnTo>
                  <a:lnTo>
                    <a:pt x="1866963" y="5154841"/>
                  </a:lnTo>
                  <a:lnTo>
                    <a:pt x="3517912" y="5154841"/>
                  </a:lnTo>
                  <a:lnTo>
                    <a:pt x="3561859" y="5150274"/>
                  </a:lnTo>
                  <a:lnTo>
                    <a:pt x="3604583" y="5136910"/>
                  </a:lnTo>
                  <a:lnTo>
                    <a:pt x="3645259" y="5115253"/>
                  </a:lnTo>
                  <a:lnTo>
                    <a:pt x="3683063" y="5085807"/>
                  </a:lnTo>
                  <a:lnTo>
                    <a:pt x="3717171" y="5049074"/>
                  </a:lnTo>
                  <a:lnTo>
                    <a:pt x="3746757" y="5005560"/>
                  </a:lnTo>
                  <a:lnTo>
                    <a:pt x="3770998" y="4955768"/>
                  </a:lnTo>
                  <a:lnTo>
                    <a:pt x="4598276" y="3056407"/>
                  </a:lnTo>
                  <a:lnTo>
                    <a:pt x="4615878" y="3010569"/>
                  </a:lnTo>
                  <a:lnTo>
                    <a:pt x="4628451" y="2962402"/>
                  </a:lnTo>
                  <a:lnTo>
                    <a:pt x="4635995" y="2912682"/>
                  </a:lnTo>
                  <a:lnTo>
                    <a:pt x="4638509" y="2862186"/>
                  </a:lnTo>
                  <a:lnTo>
                    <a:pt x="4635995" y="2811690"/>
                  </a:lnTo>
                  <a:lnTo>
                    <a:pt x="4628451" y="2761970"/>
                  </a:lnTo>
                  <a:lnTo>
                    <a:pt x="4615878" y="2713803"/>
                  </a:lnTo>
                  <a:lnTo>
                    <a:pt x="4598276" y="2667965"/>
                  </a:lnTo>
                  <a:lnTo>
                    <a:pt x="4270719" y="1915922"/>
                  </a:lnTo>
                  <a:lnTo>
                    <a:pt x="1176832" y="1915922"/>
                  </a:lnTo>
                  <a:lnTo>
                    <a:pt x="1168478" y="1915578"/>
                  </a:lnTo>
                  <a:lnTo>
                    <a:pt x="1160189" y="1914526"/>
                  </a:lnTo>
                  <a:lnTo>
                    <a:pt x="1152033" y="1912734"/>
                  </a:lnTo>
                  <a:lnTo>
                    <a:pt x="1144079" y="1910168"/>
                  </a:lnTo>
                  <a:lnTo>
                    <a:pt x="1125004" y="1899361"/>
                  </a:lnTo>
                  <a:lnTo>
                    <a:pt x="1143355" y="1856524"/>
                  </a:lnTo>
                  <a:lnTo>
                    <a:pt x="1168552" y="1798929"/>
                  </a:lnTo>
                  <a:lnTo>
                    <a:pt x="1163878" y="1796046"/>
                  </a:lnTo>
                  <a:lnTo>
                    <a:pt x="1131781" y="1758281"/>
                  </a:lnTo>
                  <a:lnTo>
                    <a:pt x="816838" y="1034999"/>
                  </a:lnTo>
                  <a:lnTo>
                    <a:pt x="801989" y="962507"/>
                  </a:lnTo>
                  <a:lnTo>
                    <a:pt x="805701" y="925196"/>
                  </a:lnTo>
                  <a:lnTo>
                    <a:pt x="1123556" y="183248"/>
                  </a:lnTo>
                  <a:lnTo>
                    <a:pt x="1163832" y="128881"/>
                  </a:lnTo>
                  <a:lnTo>
                    <a:pt x="1218958" y="109080"/>
                  </a:lnTo>
                  <a:lnTo>
                    <a:pt x="1990423" y="109080"/>
                  </a:lnTo>
                  <a:lnTo>
                    <a:pt x="1979282" y="83527"/>
                  </a:lnTo>
                  <a:lnTo>
                    <a:pt x="1960004" y="48606"/>
                  </a:lnTo>
                  <a:lnTo>
                    <a:pt x="1934683" y="22323"/>
                  </a:lnTo>
                  <a:lnTo>
                    <a:pt x="1905108" y="5761"/>
                  </a:lnTo>
                  <a:lnTo>
                    <a:pt x="1873072" y="0"/>
                  </a:lnTo>
                  <a:close/>
                </a:path>
                <a:path extrusionOk="0" h="5154930" w="4638675">
                  <a:moveTo>
                    <a:pt x="673557" y="3124809"/>
                  </a:moveTo>
                  <a:lnTo>
                    <a:pt x="272161" y="3124809"/>
                  </a:lnTo>
                  <a:lnTo>
                    <a:pt x="253315" y="3128201"/>
                  </a:lnTo>
                  <a:lnTo>
                    <a:pt x="221431" y="3153206"/>
                  </a:lnTo>
                  <a:lnTo>
                    <a:pt x="9715" y="3634930"/>
                  </a:lnTo>
                  <a:lnTo>
                    <a:pt x="0" y="3682264"/>
                  </a:lnTo>
                  <a:lnTo>
                    <a:pt x="2428" y="3706712"/>
                  </a:lnTo>
                  <a:lnTo>
                    <a:pt x="209880" y="4191127"/>
                  </a:lnTo>
                  <a:lnTo>
                    <a:pt x="236158" y="4226450"/>
                  </a:lnTo>
                  <a:lnTo>
                    <a:pt x="272161" y="4239361"/>
                  </a:lnTo>
                  <a:lnTo>
                    <a:pt x="673557" y="4239361"/>
                  </a:lnTo>
                  <a:lnTo>
                    <a:pt x="723879" y="4211270"/>
                  </a:lnTo>
                  <a:lnTo>
                    <a:pt x="936002" y="3729609"/>
                  </a:lnTo>
                  <a:lnTo>
                    <a:pt x="945984" y="3682264"/>
                  </a:lnTo>
                  <a:lnTo>
                    <a:pt x="943489" y="3657819"/>
                  </a:lnTo>
                  <a:lnTo>
                    <a:pt x="735114" y="3173399"/>
                  </a:lnTo>
                  <a:lnTo>
                    <a:pt x="709198" y="3137903"/>
                  </a:lnTo>
                  <a:lnTo>
                    <a:pt x="673557" y="3124809"/>
                  </a:lnTo>
                  <a:close/>
                </a:path>
                <a:path extrusionOk="0" h="5154930" w="4638675">
                  <a:moveTo>
                    <a:pt x="3517912" y="569887"/>
                  </a:moveTo>
                  <a:lnTo>
                    <a:pt x="2192401" y="569887"/>
                  </a:lnTo>
                  <a:lnTo>
                    <a:pt x="2209317" y="608406"/>
                  </a:lnTo>
                  <a:lnTo>
                    <a:pt x="2323795" y="871562"/>
                  </a:lnTo>
                  <a:lnTo>
                    <a:pt x="2336353" y="911017"/>
                  </a:lnTo>
                  <a:lnTo>
                    <a:pt x="2340535" y="953147"/>
                  </a:lnTo>
                  <a:lnTo>
                    <a:pt x="2336353" y="995189"/>
                  </a:lnTo>
                  <a:lnTo>
                    <a:pt x="2323795" y="1034643"/>
                  </a:lnTo>
                  <a:lnTo>
                    <a:pt x="1976399" y="1832406"/>
                  </a:lnTo>
                  <a:lnTo>
                    <a:pt x="1957071" y="1867326"/>
                  </a:lnTo>
                  <a:lnTo>
                    <a:pt x="1902048" y="1910168"/>
                  </a:lnTo>
                  <a:lnTo>
                    <a:pt x="1870202" y="1915922"/>
                  </a:lnTo>
                  <a:lnTo>
                    <a:pt x="4270719" y="1915922"/>
                  </a:lnTo>
                  <a:lnTo>
                    <a:pt x="3770998" y="768604"/>
                  </a:lnTo>
                  <a:lnTo>
                    <a:pt x="3746757" y="718831"/>
                  </a:lnTo>
                  <a:lnTo>
                    <a:pt x="3717171" y="675368"/>
                  </a:lnTo>
                  <a:lnTo>
                    <a:pt x="3683063" y="638705"/>
                  </a:lnTo>
                  <a:lnTo>
                    <a:pt x="3645259" y="609334"/>
                  </a:lnTo>
                  <a:lnTo>
                    <a:pt x="3604583" y="587746"/>
                  </a:lnTo>
                  <a:lnTo>
                    <a:pt x="3561859" y="574433"/>
                  </a:lnTo>
                  <a:lnTo>
                    <a:pt x="3517912" y="569887"/>
                  </a:lnTo>
                  <a:close/>
                </a:path>
                <a:path extrusionOk="0" h="5154930" w="4638675">
                  <a:moveTo>
                    <a:pt x="2097354" y="569887"/>
                  </a:moveTo>
                  <a:lnTo>
                    <a:pt x="1866963" y="569887"/>
                  </a:lnTo>
                  <a:lnTo>
                    <a:pt x="1821893" y="574433"/>
                  </a:lnTo>
                  <a:lnTo>
                    <a:pt x="1778699" y="587746"/>
                  </a:lnTo>
                  <a:lnTo>
                    <a:pt x="1737936" y="609334"/>
                  </a:lnTo>
                  <a:lnTo>
                    <a:pt x="1700159" y="638705"/>
                  </a:lnTo>
                  <a:lnTo>
                    <a:pt x="1665921" y="675368"/>
                  </a:lnTo>
                  <a:lnTo>
                    <a:pt x="1635778" y="718831"/>
                  </a:lnTo>
                  <a:lnTo>
                    <a:pt x="1610283" y="768604"/>
                  </a:lnTo>
                  <a:lnTo>
                    <a:pt x="1179360" y="1762569"/>
                  </a:lnTo>
                  <a:lnTo>
                    <a:pt x="1167472" y="1790280"/>
                  </a:lnTo>
                  <a:lnTo>
                    <a:pt x="1187272" y="1801444"/>
                  </a:lnTo>
                  <a:lnTo>
                    <a:pt x="1194355" y="1803809"/>
                  </a:lnTo>
                  <a:lnTo>
                    <a:pt x="1201540" y="1805495"/>
                  </a:lnTo>
                  <a:lnTo>
                    <a:pt x="1208792" y="1806505"/>
                  </a:lnTo>
                  <a:lnTo>
                    <a:pt x="1216075" y="1806841"/>
                  </a:lnTo>
                  <a:lnTo>
                    <a:pt x="1830958" y="1806841"/>
                  </a:lnTo>
                  <a:lnTo>
                    <a:pt x="1885365" y="1786909"/>
                  </a:lnTo>
                  <a:lnTo>
                    <a:pt x="1924913" y="1732686"/>
                  </a:lnTo>
                  <a:lnTo>
                    <a:pt x="2233079" y="1025639"/>
                  </a:lnTo>
                  <a:lnTo>
                    <a:pt x="2247928" y="953147"/>
                  </a:lnTo>
                  <a:lnTo>
                    <a:pt x="2244216" y="915836"/>
                  </a:lnTo>
                  <a:lnTo>
                    <a:pt x="2233079" y="880922"/>
                  </a:lnTo>
                  <a:lnTo>
                    <a:pt x="2120404" y="622439"/>
                  </a:lnTo>
                  <a:lnTo>
                    <a:pt x="2097354" y="569887"/>
                  </a:lnTo>
                  <a:close/>
                </a:path>
                <a:path extrusionOk="0" h="5154930" w="4638675">
                  <a:moveTo>
                    <a:pt x="1990423" y="109080"/>
                  </a:moveTo>
                  <a:lnTo>
                    <a:pt x="1833841" y="109080"/>
                  </a:lnTo>
                  <a:lnTo>
                    <a:pt x="1862195" y="114187"/>
                  </a:lnTo>
                  <a:lnTo>
                    <a:pt x="1888421" y="128881"/>
                  </a:lnTo>
                  <a:lnTo>
                    <a:pt x="1910935" y="152216"/>
                  </a:lnTo>
                  <a:lnTo>
                    <a:pt x="1928152" y="183248"/>
                  </a:lnTo>
                  <a:lnTo>
                    <a:pt x="2057755" y="481330"/>
                  </a:lnTo>
                  <a:lnTo>
                    <a:pt x="2091956" y="559447"/>
                  </a:lnTo>
                  <a:lnTo>
                    <a:pt x="2186635" y="559447"/>
                  </a:lnTo>
                  <a:lnTo>
                    <a:pt x="2165756" y="511200"/>
                  </a:lnTo>
                  <a:lnTo>
                    <a:pt x="1990423" y="109080"/>
                  </a:lnTo>
                  <a:close/>
                </a:path>
              </a:pathLst>
            </a:custGeom>
            <a:solidFill>
              <a:srgbClr val="7F7F7F">
                <a:alpha val="1490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 name="Google Shape;47;p7"/>
            <p:cNvPicPr preferRelativeResize="0"/>
            <p:nvPr/>
          </p:nvPicPr>
          <p:blipFill rotWithShape="1">
            <a:blip r:embed="rId3">
              <a:alphaModFix/>
            </a:blip>
            <a:srcRect b="0" l="0" r="0" t="0"/>
            <a:stretch/>
          </p:blipFill>
          <p:spPr>
            <a:xfrm>
              <a:off x="6854761" y="1715782"/>
              <a:ext cx="3203257" cy="3425380"/>
            </a:xfrm>
            <a:prstGeom prst="rect">
              <a:avLst/>
            </a:prstGeom>
            <a:noFill/>
            <a:ln>
              <a:noFill/>
            </a:ln>
          </p:spPr>
        </p:pic>
      </p:grpSp>
      <p:sp>
        <p:nvSpPr>
          <p:cNvPr id="48" name="Google Shape;48;p7"/>
          <p:cNvSpPr txBox="1"/>
          <p:nvPr/>
        </p:nvSpPr>
        <p:spPr>
          <a:xfrm>
            <a:off x="4101025" y="1250900"/>
            <a:ext cx="2644800" cy="505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TITLE PAGE</a:t>
            </a:r>
            <a:endParaRPr b="0" i="0" sz="3200" u="none" cap="none" strike="noStrike">
              <a:solidFill>
                <a:srgbClr val="000000"/>
              </a:solidFill>
              <a:latin typeface="Times New Roman"/>
              <a:ea typeface="Times New Roman"/>
              <a:cs typeface="Times New Roman"/>
              <a:sym typeface="Times New Roman"/>
            </a:endParaRPr>
          </a:p>
        </p:txBody>
      </p:sp>
      <p:sp>
        <p:nvSpPr>
          <p:cNvPr descr="$PPTXTitle" id="49" name="Google Shape;49;p7"/>
          <p:cNvSpPr txBox="1"/>
          <p:nvPr>
            <p:ph type="title"/>
          </p:nvPr>
        </p:nvSpPr>
        <p:spPr>
          <a:xfrm>
            <a:off x="673455" y="193941"/>
            <a:ext cx="9674225"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4000">
                <a:solidFill>
                  <a:srgbClr val="1E487C"/>
                </a:solidFill>
                <a:latin typeface="Georgia"/>
                <a:ea typeface="Georgia"/>
                <a:cs typeface="Georgia"/>
                <a:sym typeface="Georgia"/>
              </a:rPr>
              <a:t>SMART INDIA HACKATHON 2026</a:t>
            </a:r>
            <a:endParaRPr sz="4000">
              <a:latin typeface="Georgia"/>
              <a:ea typeface="Georgia"/>
              <a:cs typeface="Georgia"/>
              <a:sym typeface="Georgia"/>
            </a:endParaRPr>
          </a:p>
        </p:txBody>
      </p:sp>
      <p:sp>
        <p:nvSpPr>
          <p:cNvPr id="50" name="Google Shape;50;p7"/>
          <p:cNvSpPr txBox="1"/>
          <p:nvPr/>
        </p:nvSpPr>
        <p:spPr>
          <a:xfrm>
            <a:off x="408570" y="3414954"/>
            <a:ext cx="1059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p7"/>
          <p:cNvSpPr txBox="1"/>
          <p:nvPr/>
        </p:nvSpPr>
        <p:spPr>
          <a:xfrm>
            <a:off x="673450" y="2440900"/>
            <a:ext cx="6528900" cy="3669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Problem Statement ID – 26193</a:t>
            </a:r>
            <a:endParaRPr b="1" i="0" sz="18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325"/>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Problem Statement Title- AI</a:t>
            </a:r>
            <a:r>
              <a:rPr b="1" lang="en-US" sz="1800">
                <a:solidFill>
                  <a:schemeClr val="dk1"/>
                </a:solidFill>
              </a:rPr>
              <a:t> </a:t>
            </a:r>
            <a:r>
              <a:rPr b="1" i="0" lang="en-US" sz="1800" u="none" cap="none" strike="noStrike">
                <a:solidFill>
                  <a:schemeClr val="dk1"/>
                </a:solidFill>
                <a:latin typeface="Arial"/>
                <a:ea typeface="Arial"/>
                <a:cs typeface="Arial"/>
                <a:sym typeface="Arial"/>
              </a:rPr>
              <a:t>Powered Post-Harvest	 Decisio</a:t>
            </a:r>
            <a:r>
              <a:rPr b="1" lang="en-US" sz="1800">
                <a:solidFill>
                  <a:schemeClr val="dk1"/>
                </a:solidFill>
              </a:rPr>
              <a:t>n 						</a:t>
            </a:r>
            <a:r>
              <a:rPr b="1" i="0" lang="en-US" sz="1800" u="none" cap="none" strike="noStrike">
                <a:solidFill>
                  <a:schemeClr val="dk1"/>
                </a:solidFill>
                <a:latin typeface="Arial"/>
                <a:ea typeface="Arial"/>
                <a:cs typeface="Arial"/>
                <a:sym typeface="Arial"/>
              </a:rPr>
              <a:t>Intelligence</a:t>
            </a:r>
            <a:r>
              <a:rPr b="1" lang="en-US" sz="1800">
                <a:solidFill>
                  <a:schemeClr val="dk1"/>
                </a:solidFill>
              </a:rPr>
              <a:t> Platform</a:t>
            </a:r>
            <a:endParaRPr b="1" sz="1800">
              <a:solidFill>
                <a:schemeClr val="dk1"/>
              </a:solidFill>
            </a:endParaRPr>
          </a:p>
          <a:p>
            <a:pPr indent="0" lvl="0" marL="12700" marR="0" rtl="0" algn="ctr">
              <a:lnSpc>
                <a:spcPct val="100000"/>
              </a:lnSpc>
              <a:spcBef>
                <a:spcPts val="325"/>
              </a:spcBef>
              <a:spcAft>
                <a:spcPts val="0"/>
              </a:spcAft>
              <a:buClr>
                <a:srgbClr val="000000"/>
              </a:buClr>
              <a:buSzPts val="1800"/>
              <a:buFont typeface="Arial"/>
              <a:buNone/>
            </a:pPr>
            <a:r>
              <a:t/>
            </a:r>
            <a:endParaRPr b="1" sz="1800">
              <a:solidFill>
                <a:schemeClr val="dk1"/>
              </a:solidFill>
            </a:endParaRPr>
          </a:p>
          <a:p>
            <a:pPr indent="0" lvl="0" marL="0" marR="5080" rtl="0" algn="l">
              <a:lnSpc>
                <a:spcPct val="114999"/>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Theme-	Agriculture,	FoodTech &amp;	Rural  Development</a:t>
            </a:r>
            <a:endParaRPr b="1" i="0" sz="1800" u="none" cap="none" strike="noStrike">
              <a:solidFill>
                <a:schemeClr val="dk1"/>
              </a:solidFill>
              <a:latin typeface="Arial"/>
              <a:ea typeface="Arial"/>
              <a:cs typeface="Arial"/>
              <a:sym typeface="Arial"/>
            </a:endParaRPr>
          </a:p>
          <a:p>
            <a:pPr indent="0" lvl="0" marL="0" marR="5080" rtl="0" algn="l">
              <a:lnSpc>
                <a:spcPct val="114999"/>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12700" marR="0" rtl="0" algn="l">
              <a:lnSpc>
                <a:spcPct val="100000"/>
              </a:lnSpc>
              <a:spcBef>
                <a:spcPts val="32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PS Category- Software</a:t>
            </a:r>
            <a:endParaRPr b="1" i="0" sz="1800" u="none" cap="none" strike="noStrike">
              <a:solidFill>
                <a:schemeClr val="dk1"/>
              </a:solidFill>
              <a:latin typeface="Arial"/>
              <a:ea typeface="Arial"/>
              <a:cs typeface="Arial"/>
              <a:sym typeface="Arial"/>
            </a:endParaRPr>
          </a:p>
          <a:p>
            <a:pPr indent="0" lvl="0" marL="12700" marR="0" rtl="0" algn="l">
              <a:lnSpc>
                <a:spcPct val="100000"/>
              </a:lnSpc>
              <a:spcBef>
                <a:spcPts val="32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Team ID- </a:t>
            </a:r>
            <a:endParaRPr b="1" i="0" sz="1800" u="none" cap="none" strike="noStrike">
              <a:solidFill>
                <a:schemeClr val="dk1"/>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12700" marR="5080" rtl="0" algn="l">
              <a:lnSpc>
                <a:spcPct val="114999"/>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Team Name -</a:t>
            </a:r>
            <a:r>
              <a:rPr b="1" lang="en-US" sz="1800">
                <a:solidFill>
                  <a:schemeClr val="dk1"/>
                </a:solidFill>
              </a:rPr>
              <a:t> AGRINEXUS</a:t>
            </a:r>
            <a:endParaRPr b="1" i="0" sz="1800" u="none" cap="none" strike="noStrike">
              <a:solidFill>
                <a:schemeClr val="dk1"/>
              </a:solidFill>
              <a:latin typeface="Arial"/>
              <a:ea typeface="Arial"/>
              <a:cs typeface="Arial"/>
              <a:sym typeface="Arial"/>
            </a:endParaRPr>
          </a:p>
        </p:txBody>
      </p:sp>
      <p:sp>
        <p:nvSpPr>
          <p:cNvPr id="52" name="Google Shape;52;p7"/>
          <p:cNvSpPr txBox="1"/>
          <p:nvPr/>
        </p:nvSpPr>
        <p:spPr>
          <a:xfrm>
            <a:off x="408575" y="2388252"/>
            <a:ext cx="264900" cy="3795600"/>
          </a:xfrm>
          <a:prstGeom prst="rect">
            <a:avLst/>
          </a:prstGeom>
          <a:noFill/>
          <a:ln>
            <a:noFill/>
          </a:ln>
        </p:spPr>
        <p:txBody>
          <a:bodyPr anchorCtr="0" anchor="t" bIns="0" lIns="0" spcFirstLastPara="1" rIns="0" wrap="square" tIns="53325">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t/>
            </a:r>
            <a:endParaRPr sz="1800"/>
          </a:p>
          <a:p>
            <a:pPr indent="0" lvl="0" marL="12700" marR="0" rtl="0" algn="l">
              <a:lnSpc>
                <a:spcPct val="100000"/>
              </a:lnSpc>
              <a:spcBef>
                <a:spcPts val="325"/>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325"/>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325"/>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3" name="Google Shape;53;p7"/>
          <p:cNvSpPr txBox="1"/>
          <p:nvPr/>
        </p:nvSpPr>
        <p:spPr>
          <a:xfrm>
            <a:off x="9780117" y="1079"/>
            <a:ext cx="2249639" cy="1061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 u="none" cap="none" strike="noStrike">
                <a:solidFill>
                  <a:srgbClr val="FFFFFF"/>
                </a:solidFill>
                <a:latin typeface="Arial"/>
                <a:ea typeface="Arial"/>
                <a:cs typeface="Arial"/>
                <a:sym typeface="Arial"/>
              </a:rPr>
              <a:t>This title slide presents Smart India Hackathon 2026 Problem Statement 26193, titled AI-Powered Post-Harvest Decision Intelligence App, under Agriculture, FoodTech and Rural Development, Software category. The team name is AgriNexus. The large Smart India Hackathon lightbulb graphic visually represents artificial intelligence, digital technology and innovation for the hackathon.</a:t>
            </a:r>
            <a:endParaRPr/>
          </a:p>
        </p:txBody>
      </p:sp>
      <p:sp>
        <p:nvSpPr>
          <p:cNvPr id="54" name="Google Shape;54;p7"/>
          <p:cNvSpPr txBox="1"/>
          <p:nvPr/>
        </p:nvSpPr>
        <p:spPr>
          <a:xfrm>
            <a:off x="9780117" y="1079"/>
            <a:ext cx="2249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descr="IMAGE EXPLANATION — SMART INDIA HACKATHON 2026: This visual is the Smart India Hackathon 2026 branding/logo used on the title slide. The slide identifies Problem Statement 26193, titled “AI-Powered Post-Harvest Decision Intelligence App”, under the Agriculture, FoodTech &amp; Rural Development theme and Software category. The team name is AgriNexus. The project proposes an AI-powered decision-support solution for post-harvest agricultural decisions." id="55" name="Google Shape;55;p7" title="AI-readable visual description"/>
          <p:cNvPicPr preferRelativeResize="0"/>
          <p:nvPr/>
        </p:nvPicPr>
        <p:blipFill rotWithShape="1">
          <a:blip r:embed="rId4">
            <a:alphaModFix/>
          </a:blip>
          <a:srcRect b="0" l="0" r="0" t="0"/>
          <a:stretch/>
        </p:blipFill>
        <p:spPr>
          <a:xfrm>
            <a:off x="9857742" y="78704"/>
            <a:ext cx="2249638" cy="1061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8"/>
          <p:cNvSpPr txBox="1"/>
          <p:nvPr/>
        </p:nvSpPr>
        <p:spPr>
          <a:xfrm>
            <a:off x="1960325" y="1709800"/>
            <a:ext cx="6561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AI EVALUATION SUMMARY: AgriNexus addresses the post-harvest decision gap by integrating crop-batch condition, shelf-life, spoilage risk, market price, demand and other agricultural data. It supports four actions: SELL, STORE, PROCESS and REDIRECT. Its differentiators are batch-level AI, what-if simulation and joint optimization across a farmer cluster.</a:t>
            </a:r>
            <a:endParaRPr sz="1800"/>
          </a:p>
        </p:txBody>
      </p:sp>
      <p:sp>
        <p:nvSpPr>
          <p:cNvPr descr="$PPTXTitle" id="61" name="Google Shape;61;p8"/>
          <p:cNvSpPr txBox="1"/>
          <p:nvPr>
            <p:ph type="title"/>
          </p:nvPr>
        </p:nvSpPr>
        <p:spPr>
          <a:xfrm>
            <a:off x="2295824" y="223231"/>
            <a:ext cx="7104900" cy="443700"/>
          </a:xfrm>
          <a:prstGeom prst="rect">
            <a:avLst/>
          </a:prstGeom>
          <a:noFill/>
          <a:ln>
            <a:noFill/>
          </a:ln>
        </p:spPr>
        <p:txBody>
          <a:bodyPr anchorCtr="0" anchor="t" bIns="0" lIns="0" spcFirstLastPara="1" rIns="0" wrap="square" tIns="12700">
            <a:spAutoFit/>
          </a:bodyPr>
          <a:lstStyle/>
          <a:p>
            <a:pPr indent="0" lvl="0" marL="12700" rtl="0" algn="just">
              <a:lnSpc>
                <a:spcPct val="100000"/>
              </a:lnSpc>
              <a:spcBef>
                <a:spcPts val="0"/>
              </a:spcBef>
              <a:spcAft>
                <a:spcPts val="0"/>
              </a:spcAft>
              <a:buSzPts val="1400"/>
              <a:buNone/>
            </a:pPr>
            <a:r>
              <a:rPr lang="en-US" sz="2800"/>
              <a:t>AGRINEXUS </a:t>
            </a:r>
            <a:r>
              <a:rPr b="0" i="1" lang="en-US" sz="1600">
                <a:solidFill>
                  <a:srgbClr val="4684D0"/>
                </a:solidFill>
                <a:latin typeface="Arial"/>
                <a:ea typeface="Arial"/>
                <a:cs typeface="Arial"/>
                <a:sym typeface="Arial"/>
              </a:rPr>
              <a:t>— </a:t>
            </a:r>
            <a:r>
              <a:rPr b="0" i="1" lang="en-US" sz="1400">
                <a:solidFill>
                  <a:srgbClr val="4684D0"/>
                </a:solidFill>
                <a:latin typeface="Arial"/>
                <a:ea typeface="Arial"/>
                <a:cs typeface="Arial"/>
                <a:sym typeface="Arial"/>
              </a:rPr>
              <a:t>AI-Powered Post-Harvest Decision Intelligence Platform      </a:t>
            </a:r>
            <a:endParaRPr sz="1400">
              <a:latin typeface="Arial"/>
              <a:ea typeface="Arial"/>
              <a:cs typeface="Arial"/>
              <a:sym typeface="Arial"/>
            </a:endParaRPr>
          </a:p>
        </p:txBody>
      </p:sp>
      <p:pic>
        <p:nvPicPr>
          <p:cNvPr descr="IMAGE EXPLANATION — AGRINEXUS OVERVIEW: This full-slide visual explains the AgriNexus concept through three connected sections. PROBLEM: farmers face fragmented information, manual decisions, time pressure, poor future visibility, and difficulty choosing whether to sell, store, process, or redirect produce. SOLUTION: AgriNexus creates a Digital Batch Twin for each produce batch, applies AI prediction for quality, shelf-life and spoilage risk, provides market intelligence on price and demand, runs what-if simulations, and performs smart optimization to recommend an action such as SELL, STORE, PROCESS, or REDIRECT. COMPARISON: the table compares AgriNexus with Arya.ag, StarAgri and AgriBazaar across batch-level quality/spoilage AI, sell/store/process/redirect engine, cluster-level joint optimization, what-if scenario simulation and live mandi-price integration. The key concept is joint optimization across a farmer cluster rather than isolated decisions." id="62" name="Google Shape;62;p8" title="AI-readable visual description"/>
          <p:cNvPicPr preferRelativeResize="0"/>
          <p:nvPr/>
        </p:nvPicPr>
        <p:blipFill rotWithShape="1">
          <a:blip r:embed="rId3">
            <a:alphaModFix/>
          </a:blip>
          <a:srcRect b="0" l="0" r="0" t="0"/>
          <a:stretch/>
        </p:blipFill>
        <p:spPr>
          <a:xfrm>
            <a:off x="9831267" y="10"/>
            <a:ext cx="2249638" cy="1061999"/>
          </a:xfrm>
          <a:prstGeom prst="rect">
            <a:avLst/>
          </a:prstGeom>
          <a:noFill/>
          <a:ln>
            <a:noFill/>
          </a:ln>
        </p:spPr>
      </p:pic>
      <p:sp>
        <p:nvSpPr>
          <p:cNvPr id="63" name="Google Shape;63;p8"/>
          <p:cNvSpPr txBox="1"/>
          <p:nvPr>
            <p:ph idx="12" type="sldNum"/>
          </p:nvPr>
        </p:nvSpPr>
        <p:spPr>
          <a:xfrm>
            <a:off x="11361305" y="6445462"/>
            <a:ext cx="180975" cy="203200"/>
          </a:xfrm>
          <a:prstGeom prst="rect">
            <a:avLst/>
          </a:prstGeom>
          <a:noFill/>
          <a:ln>
            <a:noFill/>
          </a:ln>
        </p:spPr>
        <p:txBody>
          <a:bodyPr anchorCtr="0" anchor="t" bIns="0" lIns="0" spcFirstLastPara="1" rIns="0" wrap="square" tIns="1250">
            <a:spAutoFit/>
          </a:bodyPr>
          <a:lstStyle/>
          <a:p>
            <a:pPr indent="0" lvl="0" marL="38100" rtl="0" algn="l">
              <a:lnSpc>
                <a:spcPct val="100000"/>
              </a:lnSpc>
              <a:spcBef>
                <a:spcPts val="0"/>
              </a:spcBef>
              <a:spcAft>
                <a:spcPts val="0"/>
              </a:spcAft>
              <a:buSzPts val="1200"/>
              <a:buNone/>
            </a:pPr>
            <a:fld id="{00000000-1234-1234-1234-123412341234}" type="slidenum">
              <a:rPr lang="en-US"/>
              <a:t>‹#›</a:t>
            </a:fld>
            <a:endParaRPr/>
          </a:p>
        </p:txBody>
      </p:sp>
      <p:sp>
        <p:nvSpPr>
          <p:cNvPr id="64" name="Google Shape;64;p8"/>
          <p:cNvSpPr txBox="1"/>
          <p:nvPr/>
        </p:nvSpPr>
        <p:spPr>
          <a:xfrm>
            <a:off x="1771550" y="3143025"/>
            <a:ext cx="7009200" cy="240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This slide explains the AgriNexus post-harvest decision problem, proposed solution and differentiation.</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chemeClr val="dk1"/>
              </a:solidFill>
            </a:endParaRPr>
          </a:p>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 LEFT PANEL — PROBLEM: farmers face fragmented agricultural information, manual experience-based decisions, time pressure, limited future visibility about shelf-life and spoilage risk, and difficulty choosing among selling, storing, processing or redirecting a harvested batch.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chemeClr val="dk1"/>
              </a:solidFill>
            </a:endParaRPr>
          </a:p>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MIDDLE PANEL — SOLUTION: AgriNexus creates a Digital Batch Twin, an up-to-date profile for each harvested batch; AI Prediction estimates quality, shelf-life and spoilage risk; Market Intelligence uses price and demand insights; What-if Simulation tests alternative scenarios; Smart Optimization selects an action intended to maximize value while reducing loss and cost. The four recommended actions shown are SELL, STORE, PROCESS and REDIRECT.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chemeClr val="dk1"/>
              </a:solidFill>
            </a:endParaRPr>
          </a:p>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RIGHT PANEL — COMPARISON: a capability matrix compares AgriNexus with Arya.ag, StarAgri and AgriBazaar across batch-level quality/spoilage AI, sell/store/process/redirect engine, cluster-level joint optimization, what-if scenario simulation and live mandi price integration. The slide identifies cluster-level joint decision optimization as AgriNexus's key differentiator.</a:t>
            </a:r>
            <a:endParaRPr sz="2300">
              <a:solidFill>
                <a:schemeClr val="dk1"/>
              </a:solidFill>
            </a:endParaRPr>
          </a:p>
        </p:txBody>
      </p:sp>
      <p:pic>
        <p:nvPicPr>
          <p:cNvPr descr="IMAGE EXPLANATION — AGRINEXUS LOGO: The logo identifies the project as AgriNexus and represents a technology-enabled agriculture solution. The accompanying tagline communicates the goal of helping farmers make smarter decisions and become stronger through data and AI." id="65" name="Google Shape;65;p8" title="AI-readable visual description"/>
          <p:cNvPicPr preferRelativeResize="0"/>
          <p:nvPr/>
        </p:nvPicPr>
        <p:blipFill rotWithShape="1">
          <a:blip r:embed="rId4">
            <a:alphaModFix/>
          </a:blip>
          <a:srcRect b="0" l="0" r="0" t="0"/>
          <a:stretch/>
        </p:blipFill>
        <p:spPr>
          <a:xfrm>
            <a:off x="176507" y="201150"/>
            <a:ext cx="1466926" cy="487850"/>
          </a:xfrm>
          <a:prstGeom prst="rect">
            <a:avLst/>
          </a:prstGeom>
          <a:noFill/>
          <a:ln>
            <a:noFill/>
          </a:ln>
        </p:spPr>
      </p:pic>
      <p:pic>
        <p:nvPicPr>
          <p:cNvPr descr="This slide explains the AgriNexus post-harvest decision problem, proposed solution and differentiation. LEFT PANEL — PROBLEM: farmers face fragmented agricultural information, manual experience-based decisions, time pressure, limited future visibility about shelf-life and spoilage risk, and difficulty choosing among selling, storing, processing or redirecting a harvested batch. MIDDLE PANEL — SOLUTION: AgriNexus creates a Digital Batch Twin, an up-to-date profile for each harvested batch; AI Prediction estimates quality, shelf-life and spoilage risk; Market Intelligence uses price and demand insights; What-if Simulation tests alternative scenarios; Smart Optimization selects an action intended to maximize value while reducing loss and cost. The four recommended actions shown are SELL, STORE, PROCESS and REDIRECT. RIGHT PANEL — COMPARISON: a capability matrix compares AgriNexus with Arya.ag, StarAgri and AgriBazaar across batch-level quality/spoilage AI, sell/store/process/redirect engine, cluster-level joint optimization, what-if scenario simulation and live mandi price integration. The slide identifies cluster-level joint decision optimization as AgriNexus's key differentiator." id="66" name="Google Shape;66;p8" title="AI-readable explanation for slide 2"/>
          <p:cNvPicPr preferRelativeResize="0"/>
          <p:nvPr/>
        </p:nvPicPr>
        <p:blipFill rotWithShape="1">
          <a:blip r:embed="rId5">
            <a:alphaModFix/>
          </a:blip>
          <a:srcRect b="9264" l="0" r="0" t="10175"/>
          <a:stretch/>
        </p:blipFill>
        <p:spPr>
          <a:xfrm>
            <a:off x="213725" y="1075500"/>
            <a:ext cx="11764524" cy="5277276"/>
          </a:xfrm>
          <a:prstGeom prst="rect">
            <a:avLst/>
          </a:prstGeom>
          <a:noFill/>
          <a:ln>
            <a:noFill/>
          </a:ln>
        </p:spPr>
      </p:pic>
      <p:sp>
        <p:nvSpPr>
          <p:cNvPr id="67" name="Google Shape;67;p8"/>
          <p:cNvSpPr txBox="1"/>
          <p:nvPr/>
        </p:nvSpPr>
        <p:spPr>
          <a:xfrm>
            <a:off x="2983225" y="6356350"/>
            <a:ext cx="59214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rgbClr val="FFFFFF"/>
                </a:solidFill>
                <a:latin typeface="Oswald"/>
                <a:ea typeface="Oswald"/>
                <a:cs typeface="Oswald"/>
                <a:sym typeface="Oswald"/>
              </a:rPr>
              <a:t>SMART INDIA HACKATHON 2026</a:t>
            </a:r>
            <a:endParaRPr sz="2100">
              <a:solidFill>
                <a:srgbClr val="FFFFFF"/>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9"/>
          <p:cNvSpPr txBox="1"/>
          <p:nvPr/>
        </p:nvSpPr>
        <p:spPr>
          <a:xfrm>
            <a:off x="861575" y="1255225"/>
            <a:ext cx="10413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000"/>
              <a:t>AI</a:t>
            </a:r>
            <a:r>
              <a:rPr b="0" i="0" lang="en-US" sz="1000" u="none" cap="none" strike="noStrike">
                <a:solidFill>
                  <a:srgbClr val="000000"/>
                </a:solidFill>
                <a:latin typeface="Arial"/>
                <a:ea typeface="Arial"/>
                <a:cs typeface="Arial"/>
                <a:sym typeface="Arial"/>
              </a:rPr>
              <a:t> EVALUATION SUMMARY: AgriNexus follows an integrated pipeline: data collection and validation → digital batch twin → AI prediction → market intelligence → what-if simulation → optimization → actionable recommendation. Data references include Soil Health Card, AGMARKNET/e-NAM, IMD weather and ICAR agricultural knowledge.</a:t>
            </a:r>
            <a:endParaRPr sz="1600"/>
          </a:p>
        </p:txBody>
      </p:sp>
      <p:sp>
        <p:nvSpPr>
          <p:cNvPr descr="$PPTXTitle" id="73" name="Google Shape;73;p9"/>
          <p:cNvSpPr txBox="1"/>
          <p:nvPr>
            <p:ph type="title"/>
          </p:nvPr>
        </p:nvSpPr>
        <p:spPr>
          <a:xfrm>
            <a:off x="2622143" y="169936"/>
            <a:ext cx="6954000" cy="567000"/>
          </a:xfrm>
          <a:prstGeom prst="rect">
            <a:avLst/>
          </a:prstGeom>
          <a:noFill/>
          <a:ln>
            <a:noFill/>
          </a:ln>
        </p:spPr>
        <p:txBody>
          <a:bodyPr anchorCtr="0" anchor="t" bIns="0" lIns="0" spcFirstLastPara="1" rIns="0" wrap="square" tIns="12700">
            <a:spAutoFit/>
          </a:bodyPr>
          <a:lstStyle/>
          <a:p>
            <a:pPr indent="0" lvl="0" marL="762000" rtl="0" algn="l">
              <a:lnSpc>
                <a:spcPct val="100000"/>
              </a:lnSpc>
              <a:spcBef>
                <a:spcPts val="0"/>
              </a:spcBef>
              <a:spcAft>
                <a:spcPts val="0"/>
              </a:spcAft>
              <a:buSzPts val="1400"/>
              <a:buNone/>
            </a:pPr>
            <a:r>
              <a:rPr lang="en-US"/>
              <a:t>TECHNICAL APPROACH</a:t>
            </a:r>
            <a:endParaRPr/>
          </a:p>
        </p:txBody>
      </p:sp>
      <p:sp>
        <p:nvSpPr>
          <p:cNvPr id="74" name="Google Shape;74;p9"/>
          <p:cNvSpPr txBox="1"/>
          <p:nvPr/>
        </p:nvSpPr>
        <p:spPr>
          <a:xfrm>
            <a:off x="5854025" y="2112204"/>
            <a:ext cx="4749900" cy="289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Arial"/>
                <a:ea typeface="Arial"/>
                <a:cs typeface="Arial"/>
                <a:sym typeface="Arial"/>
              </a:rPr>
              <a:t>IMAGE EXPLANATION — TECHNICAL APPROACH: This visual represents the end-to-end AgriNexus technical architecture. Data sources include farmer/crop information, Soil Health Card data, AGMARKNET/e-NAM mandi prices, weather information from IMD, crop/agriculture knowledge from ICAR, and post-harvest batch observations. The system creates a batch-level digital twin, processes data through AI/ML models for quality, shelf-life, spoilage risk, price and demand prediction, then uses scenario simulation and optimization to select an action. The final decision-support outputs guide the farmer toward SELL, STORE, PROCESS or REDIRECT. The architecture emphasizes data integration, AI prediction, what-if analysis, optimization and actionable recommendations.</a:t>
            </a:r>
            <a:endParaRPr sz="1900"/>
          </a:p>
        </p:txBody>
      </p:sp>
      <p:pic>
        <p:nvPicPr>
          <p:cNvPr descr="IMAGE EXPLANATION — TECHNICAL APPROACH: This visual represents the end-to-end AgriNexus technical architecture. Data sources include farmer/crop information, Soil Health Card data, AGMARKNET/e-NAM mandi prices, weather information from IMD, crop/agriculture knowledge from ICAR, and post-harvest batch observations. The system creates a batch-level digital twin, processes data through AI/ML models for quality, shelf-life, spoilage risk, price and demand prediction, then uses scenario simulation and optimization to select an action. The final decision-support outputs guide the farmer toward SELL, STORE, PROCESS or REDIRECT. The architecture emphasizes data integration, AI prediction, what-if analysis, optimization and actionable recommendations." id="75" name="Google Shape;75;p9" title="AI-readable visual description"/>
          <p:cNvPicPr preferRelativeResize="0"/>
          <p:nvPr/>
        </p:nvPicPr>
        <p:blipFill rotWithShape="1">
          <a:blip r:embed="rId3">
            <a:alphaModFix/>
          </a:blip>
          <a:srcRect b="0" l="0" r="0" t="0"/>
          <a:stretch/>
        </p:blipFill>
        <p:spPr>
          <a:xfrm>
            <a:off x="9755367" y="12"/>
            <a:ext cx="2249638" cy="1061999"/>
          </a:xfrm>
          <a:prstGeom prst="rect">
            <a:avLst/>
          </a:prstGeom>
          <a:noFill/>
          <a:ln>
            <a:noFill/>
          </a:ln>
        </p:spPr>
      </p:pic>
      <p:sp>
        <p:nvSpPr>
          <p:cNvPr id="76" name="Google Shape;76;p9"/>
          <p:cNvSpPr txBox="1"/>
          <p:nvPr>
            <p:ph idx="12" type="sldNum"/>
          </p:nvPr>
        </p:nvSpPr>
        <p:spPr>
          <a:xfrm>
            <a:off x="11361305" y="6445462"/>
            <a:ext cx="180900" cy="203100"/>
          </a:xfrm>
          <a:prstGeom prst="rect">
            <a:avLst/>
          </a:prstGeom>
          <a:noFill/>
          <a:ln>
            <a:noFill/>
          </a:ln>
        </p:spPr>
        <p:txBody>
          <a:bodyPr anchorCtr="0" anchor="t" bIns="0" lIns="0" spcFirstLastPara="1" rIns="0" wrap="square" tIns="1250">
            <a:spAutoFit/>
          </a:bodyPr>
          <a:lstStyle/>
          <a:p>
            <a:pPr indent="0" lvl="0" marL="38100" rtl="0" algn="l">
              <a:lnSpc>
                <a:spcPct val="100000"/>
              </a:lnSpc>
              <a:spcBef>
                <a:spcPts val="0"/>
              </a:spcBef>
              <a:spcAft>
                <a:spcPts val="0"/>
              </a:spcAft>
              <a:buSzPts val="1200"/>
              <a:buNone/>
            </a:pPr>
            <a:fld id="{00000000-1234-1234-1234-123412341234}" type="slidenum">
              <a:rPr lang="en-US"/>
              <a:t>‹#›</a:t>
            </a:fld>
            <a:endParaRPr/>
          </a:p>
        </p:txBody>
      </p:sp>
      <p:sp>
        <p:nvSpPr>
          <p:cNvPr id="77" name="Google Shape;77;p9"/>
          <p:cNvSpPr txBox="1"/>
          <p:nvPr/>
        </p:nvSpPr>
        <p:spPr>
          <a:xfrm>
            <a:off x="551100" y="1827450"/>
            <a:ext cx="46902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This technical approach slide describes the AgriNexus end-to-end architecture and decision flow.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SYSTEM ARCHITECTURE has four zones: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Zone 1</a:t>
            </a:r>
            <a:r>
              <a:rPr lang="en-US" sz="1200">
                <a:solidFill>
                  <a:schemeClr val="dk1"/>
                </a:solidFill>
              </a:rPr>
              <a:t>- </a:t>
            </a:r>
            <a:r>
              <a:rPr b="0" i="0" lang="en-US" sz="1200" u="none" cap="none" strike="noStrike">
                <a:solidFill>
                  <a:schemeClr val="dk1"/>
                </a:solidFill>
                <a:latin typeface="Arial"/>
                <a:ea typeface="Arial"/>
                <a:cs typeface="Arial"/>
                <a:sym typeface="Arial"/>
              </a:rPr>
              <a:t>Client includes a Flutter farmer app and React FPO/buyer dashboard with offline-first design;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Zone 2 - API Layer uses Python and FastAPI backend services for authentication, batches, clusters and alerts;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Zone 3</a:t>
            </a:r>
            <a:r>
              <a:rPr lang="en-US" sz="1200">
                <a:solidFill>
                  <a:schemeClr val="dk1"/>
                </a:solidFill>
              </a:rPr>
              <a:t> - </a:t>
            </a:r>
            <a:r>
              <a:rPr b="0" i="0" lang="en-US" sz="1200" u="none" cap="none" strike="noStrike">
                <a:solidFill>
                  <a:schemeClr val="dk1"/>
                </a:solidFill>
                <a:latin typeface="Arial"/>
                <a:ea typeface="Arial"/>
                <a:cs typeface="Arial"/>
                <a:sym typeface="Arial"/>
              </a:rPr>
              <a:t>Intelligence contains AI and optimization components for quality and shelf-life prediction, OR-Tools optimization and a decision engine;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Zone 4 -  Data and AI contains data sources including PostgreSQL and AgriNexus Assist, a RAG-based language model. IMPLEMENTATION TOOLS shown are Flutter, React, FastAPI, PyTorch, OR-Tools, PostgreSQL, AWS/GCP and GitHub.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200">
              <a:solidFill>
                <a:schemeClr val="dk1"/>
              </a:solidFil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DECISION INTELLIGENCE FLOW: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1. Input Batch with crop details;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2. AI Prediction for quality and risk;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3</a:t>
            </a:r>
            <a:r>
              <a:rPr lang="en-US" sz="1200">
                <a:solidFill>
                  <a:schemeClr val="dk1"/>
                </a:solidFill>
              </a:rPr>
              <a:t>. </a:t>
            </a:r>
            <a:r>
              <a:rPr b="0" i="0" lang="en-US" sz="1200" u="none" cap="none" strike="noStrike">
                <a:solidFill>
                  <a:schemeClr val="dk1"/>
                </a:solidFill>
                <a:latin typeface="Arial"/>
                <a:ea typeface="Arial"/>
                <a:cs typeface="Arial"/>
                <a:sym typeface="Arial"/>
              </a:rPr>
              <a:t>Market + Cluster using live prices and nearby information;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4. Optimize by testing scenarios;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5. Recommended Action selects SELL, STORE, PROCESS or REDIRECT and is explained through AgriNexus Assist. Key points are real-time computation, what-if simulation, explainable recommendations and cluster-level optimization.</a:t>
            </a:r>
            <a:endParaRPr sz="2500">
              <a:solidFill>
                <a:schemeClr val="dk1"/>
              </a:solidFill>
            </a:endParaRPr>
          </a:p>
        </p:txBody>
      </p:sp>
      <p:pic>
        <p:nvPicPr>
          <p:cNvPr descr="IMAGE EXPLANATION — AGRINEXUS LOGO: This small branding image identifies the technical architecture as part of the AgriNexus AI-powered post-harvest decision intelligence platform." id="78" name="Google Shape;78;p9" title="AI-readable visual description"/>
          <p:cNvPicPr preferRelativeResize="0"/>
          <p:nvPr/>
        </p:nvPicPr>
        <p:blipFill rotWithShape="1">
          <a:blip r:embed="rId4">
            <a:alphaModFix/>
          </a:blip>
          <a:srcRect b="0" l="0" r="0" t="0"/>
          <a:stretch/>
        </p:blipFill>
        <p:spPr>
          <a:xfrm>
            <a:off x="281732" y="221300"/>
            <a:ext cx="1466926" cy="487850"/>
          </a:xfrm>
          <a:prstGeom prst="rect">
            <a:avLst/>
          </a:prstGeom>
          <a:noFill/>
          <a:ln>
            <a:noFill/>
          </a:ln>
        </p:spPr>
      </p:pic>
      <p:pic>
        <p:nvPicPr>
          <p:cNvPr descr="This technical approach slide describes the AgriNexus end-to-end architecture and decision flow. SYSTEM ARCHITECTURE has four zones: Zone 1 Client includes a Flutter farmer app and React FPO/buyer dashboard with offline-first design; Zone 2 API Layer uses Python and FastAPI backend services for authentication, batches, clusters and alerts; Zone 3 Intelligence contains AI and optimization components for quality and shelf-life prediction, OR-Tools optimization and a decision engine; Zone 4 Data and AI contains data sources including PostgreSQL and AgriNexus Assist, a RAG-based language model. IMPLEMENTATION TOOLS shown are Flutter, React, FastAPI, PyTorch, OR-Tools, PostgreSQL, AWS/GCP and GitHub. DECISION INTELLIGENCE FLOW: 1 Input Batch with crop details; 2 AI Prediction for quality and risk; 3 Market + Cluster using live prices and nearby information; 4 Optimize by testing scenarios; 5 Recommended Action selects SELL, STORE, PROCESS or REDIRECT and is explained through AgriNexus Assist. Key points are real-time computation, what-if simulation, explainable recommendations and cluster-level optimization." id="79" name="Google Shape;79;p9" title="AI-readable explanation for slide 3"/>
          <p:cNvPicPr preferRelativeResize="0"/>
          <p:nvPr/>
        </p:nvPicPr>
        <p:blipFill rotWithShape="1">
          <a:blip r:embed="rId5">
            <a:alphaModFix/>
          </a:blip>
          <a:srcRect b="7696" l="0" r="0" t="19977"/>
          <a:stretch/>
        </p:blipFill>
        <p:spPr>
          <a:xfrm>
            <a:off x="177113" y="1062000"/>
            <a:ext cx="12014876" cy="5329475"/>
          </a:xfrm>
          <a:prstGeom prst="rect">
            <a:avLst/>
          </a:prstGeom>
          <a:noFill/>
          <a:ln>
            <a:noFill/>
          </a:ln>
        </p:spPr>
      </p:pic>
      <p:sp>
        <p:nvSpPr>
          <p:cNvPr id="80" name="Google Shape;80;p9"/>
          <p:cNvSpPr txBox="1"/>
          <p:nvPr/>
        </p:nvSpPr>
        <p:spPr>
          <a:xfrm>
            <a:off x="2983225" y="6356350"/>
            <a:ext cx="59214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rgbClr val="FFFFFF"/>
                </a:solidFill>
                <a:latin typeface="Oswald"/>
                <a:ea typeface="Oswald"/>
                <a:cs typeface="Oswald"/>
                <a:sym typeface="Oswald"/>
              </a:rPr>
              <a:t>SMART INDIA HACKATHON 2026</a:t>
            </a:r>
            <a:endParaRPr sz="2100">
              <a:solidFill>
                <a:srgbClr val="FFFFFF"/>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descr="$PPTXTitle" id="85" name="Google Shape;85;p10"/>
          <p:cNvSpPr txBox="1"/>
          <p:nvPr>
            <p:ph type="title"/>
          </p:nvPr>
        </p:nvSpPr>
        <p:spPr>
          <a:xfrm>
            <a:off x="2563768" y="293816"/>
            <a:ext cx="6954000" cy="567000"/>
          </a:xfrm>
          <a:prstGeom prst="rect">
            <a:avLst/>
          </a:prstGeom>
          <a:noFill/>
          <a:ln>
            <a:noFill/>
          </a:ln>
        </p:spPr>
        <p:txBody>
          <a:bodyPr anchorCtr="0" anchor="t" bIns="0" lIns="0" spcFirstLastPara="1" rIns="0" wrap="square" tIns="12700">
            <a:spAutoFit/>
          </a:bodyPr>
          <a:lstStyle/>
          <a:p>
            <a:pPr indent="0" lvl="0" marL="196215" rtl="0" algn="l">
              <a:lnSpc>
                <a:spcPct val="100000"/>
              </a:lnSpc>
              <a:spcBef>
                <a:spcPts val="0"/>
              </a:spcBef>
              <a:spcAft>
                <a:spcPts val="0"/>
              </a:spcAft>
              <a:buSzPts val="1400"/>
              <a:buNone/>
            </a:pPr>
            <a:r>
              <a:rPr lang="en-US"/>
              <a:t>FEASIBILITY AND VIABILITY</a:t>
            </a:r>
            <a:endParaRPr/>
          </a:p>
        </p:txBody>
      </p:sp>
      <p:pic>
        <p:nvPicPr>
          <p:cNvPr descr="IMAGE EXPLANATION — SMART INDIA HACKATHON BRANDING: This image is the Smart India Hackathon 2026 logo used to identify the competition context of the AgriNexus project." id="86" name="Google Shape;86;p10" title="AI-readable visual description"/>
          <p:cNvPicPr preferRelativeResize="0"/>
          <p:nvPr/>
        </p:nvPicPr>
        <p:blipFill rotWithShape="1">
          <a:blip r:embed="rId3">
            <a:alphaModFix/>
          </a:blip>
          <a:srcRect b="0" l="0" r="0" t="0"/>
          <a:stretch/>
        </p:blipFill>
        <p:spPr>
          <a:xfrm>
            <a:off x="9639867" y="58241"/>
            <a:ext cx="2249638" cy="1061999"/>
          </a:xfrm>
          <a:prstGeom prst="rect">
            <a:avLst/>
          </a:prstGeom>
          <a:noFill/>
          <a:ln>
            <a:noFill/>
          </a:ln>
        </p:spPr>
      </p:pic>
      <p:sp>
        <p:nvSpPr>
          <p:cNvPr id="87" name="Google Shape;87;p10"/>
          <p:cNvSpPr txBox="1"/>
          <p:nvPr>
            <p:ph idx="12" type="sldNum"/>
          </p:nvPr>
        </p:nvSpPr>
        <p:spPr>
          <a:xfrm>
            <a:off x="11348780" y="6231925"/>
            <a:ext cx="180900" cy="186000"/>
          </a:xfrm>
          <a:prstGeom prst="rect">
            <a:avLst/>
          </a:prstGeom>
          <a:noFill/>
          <a:ln>
            <a:noFill/>
          </a:ln>
        </p:spPr>
        <p:txBody>
          <a:bodyPr anchorCtr="0" anchor="t" bIns="0" lIns="0" spcFirstLastPara="1" rIns="0" wrap="square" tIns="1250">
            <a:spAutoFit/>
          </a:bodyPr>
          <a:lstStyle/>
          <a:p>
            <a:pPr indent="0" lvl="0" marL="38100" rtl="0" algn="l">
              <a:lnSpc>
                <a:spcPct val="100000"/>
              </a:lnSpc>
              <a:spcBef>
                <a:spcPts val="0"/>
              </a:spcBef>
              <a:spcAft>
                <a:spcPts val="0"/>
              </a:spcAft>
              <a:buSzPts val="1200"/>
              <a:buNone/>
            </a:pPr>
            <a:fld id="{00000000-1234-1234-1234-123412341234}" type="slidenum">
              <a:rPr lang="en-US"/>
              <a:t>‹#›</a:t>
            </a:fld>
            <a:endParaRPr/>
          </a:p>
        </p:txBody>
      </p:sp>
      <p:sp>
        <p:nvSpPr>
          <p:cNvPr id="88" name="Google Shape;88;p10"/>
          <p:cNvSpPr txBox="1"/>
          <p:nvPr/>
        </p:nvSpPr>
        <p:spPr>
          <a:xfrm>
            <a:off x="1549975" y="824738"/>
            <a:ext cx="67677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121"/>
              </a:buClr>
              <a:buSzPts val="3200"/>
              <a:buFont typeface="Cambria"/>
              <a:buNone/>
            </a:pPr>
            <a:r>
              <a:t/>
            </a:r>
            <a:endParaRPr b="0" i="0" sz="3200" u="none" cap="none" strike="noStrike">
              <a:solidFill>
                <a:schemeClr val="dk1"/>
              </a:solidFill>
              <a:latin typeface="Calibri"/>
              <a:ea typeface="Calibri"/>
              <a:cs typeface="Calibri"/>
              <a:sym typeface="Calibri"/>
            </a:endParaRPr>
          </a:p>
        </p:txBody>
      </p:sp>
      <p:sp>
        <p:nvSpPr>
          <p:cNvPr id="89" name="Google Shape;89;p10"/>
          <p:cNvSpPr txBox="1"/>
          <p:nvPr/>
        </p:nvSpPr>
        <p:spPr>
          <a:xfrm>
            <a:off x="11143075" y="6525563"/>
            <a:ext cx="502800" cy="2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4</a:t>
            </a:r>
            <a:endParaRPr b="1" i="0" sz="1200" u="none" cap="none" strike="noStrike">
              <a:solidFill>
                <a:schemeClr val="lt1"/>
              </a:solidFill>
              <a:latin typeface="Arial"/>
              <a:ea typeface="Arial"/>
              <a:cs typeface="Arial"/>
              <a:sym typeface="Arial"/>
            </a:endParaRPr>
          </a:p>
        </p:txBody>
      </p:sp>
      <p:sp>
        <p:nvSpPr>
          <p:cNvPr id="90" name="Google Shape;90;p10"/>
          <p:cNvSpPr txBox="1"/>
          <p:nvPr/>
        </p:nvSpPr>
        <p:spPr>
          <a:xfrm>
            <a:off x="7503000" y="1533350"/>
            <a:ext cx="3290400" cy="418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u="none" cap="none" strike="noStrike">
                <a:solidFill>
                  <a:srgbClr val="000000"/>
                </a:solidFill>
                <a:latin typeface="Arial"/>
                <a:ea typeface="Arial"/>
                <a:cs typeface="Arial"/>
                <a:sym typeface="Arial"/>
              </a:rPr>
              <a:t>IMAGE EXPLANATION — AGRINEXUS FEASIBILITY AND VIABILITY CONTENT: The visual explains implementation feasibility for AgriNexus. It presents the solution as software that can combine existing agricultural data sources, AI/ML prediction, market intelligence, simulation and optimization. </a:t>
            </a:r>
            <a:endParaRPr b="0" i="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u="none" cap="none" strike="noStrike">
                <a:solidFill>
                  <a:srgbClr val="000000"/>
                </a:solidFill>
                <a:latin typeface="Arial"/>
                <a:ea typeface="Arial"/>
                <a:cs typeface="Arial"/>
                <a:sym typeface="Arial"/>
              </a:rPr>
              <a:t>The feasibility argument focuses on using available digital data and scalable cloud/software components rather than requiring specialized physical infrastructure. </a:t>
            </a:r>
            <a:endParaRPr b="0" i="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u="none" cap="none" strike="noStrike">
                <a:solidFill>
                  <a:srgbClr val="000000"/>
                </a:solidFill>
                <a:latin typeface="Arial"/>
                <a:ea typeface="Arial"/>
                <a:cs typeface="Arial"/>
                <a:sym typeface="Arial"/>
              </a:rPr>
              <a:t>The viability section connects the system to farmer decision-making and potential reduction of post-harvest losses through timely sell, store, process or redirect recommendations.</a:t>
            </a:r>
            <a:endParaRPr sz="2000"/>
          </a:p>
        </p:txBody>
      </p:sp>
      <p:pic>
        <p:nvPicPr>
          <p:cNvPr descr="IMAGE EXPLANATION — AGRINEXUS FEASIBILITY AND VIABILITY CONTENT: The visual explains implementation feasibility for AgriNexus. It presents the solution as software that can combine existing agricultural data sources, AI/ML prediction, market intelligence, simulation and optimization. The feasibility argument focuses on using available digital data and scalable cloud/software components rather than requiring specialized physical infrastructure. The viability section connects the system to farmer decision-making and potential reduction of post-harvest losses through timely sell, store, process or redirect recommendations." id="91" name="Google Shape;91;p10" title="AI-readable visual description"/>
          <p:cNvPicPr preferRelativeResize="0"/>
          <p:nvPr/>
        </p:nvPicPr>
        <p:blipFill rotWithShape="1">
          <a:blip r:embed="rId4">
            <a:alphaModFix/>
          </a:blip>
          <a:srcRect b="0" l="0" r="0" t="0"/>
          <a:stretch/>
        </p:blipFill>
        <p:spPr>
          <a:xfrm>
            <a:off x="302507" y="336913"/>
            <a:ext cx="1466926" cy="487850"/>
          </a:xfrm>
          <a:prstGeom prst="rect">
            <a:avLst/>
          </a:prstGeom>
          <a:noFill/>
          <a:ln>
            <a:noFill/>
          </a:ln>
        </p:spPr>
      </p:pic>
      <p:sp>
        <p:nvSpPr>
          <p:cNvPr id="92" name="Google Shape;92;p10"/>
          <p:cNvSpPr txBox="1"/>
          <p:nvPr/>
        </p:nvSpPr>
        <p:spPr>
          <a:xfrm>
            <a:off x="561075" y="1327550"/>
            <a:ext cx="5494800" cy="509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chemeClr val="dk1"/>
                </a:solidFill>
                <a:latin typeface="Arial"/>
                <a:ea typeface="Arial"/>
                <a:cs typeface="Arial"/>
                <a:sym typeface="Arial"/>
              </a:rPr>
              <a:t>This feasibility and viability slide explains why AgriNexus can be developed and adopted.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chemeClr val="dk1"/>
              </a:solidFill>
            </a:endParaRPr>
          </a:p>
          <a:p>
            <a:pPr indent="0" lvl="0" marL="0" marR="0" rtl="0" algn="l">
              <a:lnSpc>
                <a:spcPct val="100000"/>
              </a:lnSpc>
              <a:spcBef>
                <a:spcPts val="0"/>
              </a:spcBef>
              <a:spcAft>
                <a:spcPts val="0"/>
              </a:spcAft>
              <a:buNone/>
            </a:pPr>
            <a:r>
              <a:rPr b="0" i="0" lang="en-US" sz="1300" u="none" cap="none" strike="noStrike">
                <a:solidFill>
                  <a:schemeClr val="dk1"/>
                </a:solidFill>
                <a:latin typeface="Arial"/>
                <a:ea typeface="Arial"/>
                <a:cs typeface="Arial"/>
                <a:sym typeface="Arial"/>
              </a:rPr>
              <a:t>FEASIBILITY: proven AI/ML methods can support quality and shelf-life prediction; existing data sources include Agmarknet, eNAM and IMD; and an MVP can start with one or two crops in one FPO. The central graphic represents a solution that is feasible today, scalable tomorrow and intended to create impact for farmers.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chemeClr val="dk1"/>
              </a:solidFill>
            </a:endParaRPr>
          </a:p>
          <a:p>
            <a:pPr indent="0" lvl="0" marL="0" marR="0" rtl="0" algn="l">
              <a:lnSpc>
                <a:spcPct val="100000"/>
              </a:lnSpc>
              <a:spcBef>
                <a:spcPts val="0"/>
              </a:spcBef>
              <a:spcAft>
                <a:spcPts val="0"/>
              </a:spcAft>
              <a:buNone/>
            </a:pPr>
            <a:r>
              <a:rPr b="0" i="0" lang="en-US" sz="1300" u="none" cap="none" strike="noStrike">
                <a:solidFill>
                  <a:schemeClr val="dk1"/>
                </a:solidFill>
                <a:latin typeface="Arial"/>
                <a:ea typeface="Arial"/>
                <a:cs typeface="Arial"/>
                <a:sym typeface="Arial"/>
              </a:rPr>
              <a:t>VIABILITY: the proposed value benefits are lower cost, less spoilage and higher realized returns; the platform is designed to work with the existing FPO ecosystem and trust structures; and it has a path to scale from rule-based logic to later ML upgrades.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chemeClr val="dk1"/>
              </a:solidFill>
            </a:endParaRPr>
          </a:p>
          <a:p>
            <a:pPr indent="0" lvl="0" marL="0" marR="0" rtl="0" algn="l">
              <a:lnSpc>
                <a:spcPct val="100000"/>
              </a:lnSpc>
              <a:spcBef>
                <a:spcPts val="0"/>
              </a:spcBef>
              <a:spcAft>
                <a:spcPts val="0"/>
              </a:spcAft>
              <a:buNone/>
            </a:pPr>
            <a:r>
              <a:rPr b="0" i="0" lang="en-US" sz="1300" u="none" cap="none" strike="noStrike">
                <a:solidFill>
                  <a:schemeClr val="dk1"/>
                </a:solidFill>
                <a:latin typeface="Arial"/>
                <a:ea typeface="Arial"/>
                <a:cs typeface="Arial"/>
                <a:sym typeface="Arial"/>
              </a:rPr>
              <a:t>PRACTICAL ROLLOUT has three stages: Pilot with 1–2 high-value crops in one FPO</a:t>
            </a:r>
            <a:r>
              <a:rPr lang="en-US" sz="1300">
                <a:solidFill>
                  <a:schemeClr val="dk1"/>
                </a:solidFill>
              </a:rPr>
              <a:t>; </a:t>
            </a:r>
            <a:r>
              <a:rPr b="0" i="0" lang="en-US" sz="1300" u="none" cap="none" strike="noStrike">
                <a:solidFill>
                  <a:schemeClr val="dk1"/>
                </a:solidFill>
                <a:latin typeface="Arial"/>
                <a:ea typeface="Arial"/>
                <a:cs typeface="Arial"/>
                <a:sym typeface="Arial"/>
              </a:rPr>
              <a:t>Validate by testing and refining with real outcomes, and Expand across crops, regions and FPOs. The slide states that no major hardware investment is required.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chemeClr val="dk1"/>
              </a:solidFill>
            </a:endParaRPr>
          </a:p>
          <a:p>
            <a:pPr indent="0" lvl="0" marL="0" marR="0" rtl="0" algn="l">
              <a:lnSpc>
                <a:spcPct val="100000"/>
              </a:lnSpc>
              <a:spcBef>
                <a:spcPts val="0"/>
              </a:spcBef>
              <a:spcAft>
                <a:spcPts val="0"/>
              </a:spcAft>
              <a:buNone/>
            </a:pPr>
            <a:r>
              <a:rPr b="0" i="0" lang="en-US" sz="1300" u="none" cap="none" strike="noStrike">
                <a:solidFill>
                  <a:schemeClr val="dk1"/>
                </a:solidFill>
                <a:latin typeface="Arial"/>
                <a:ea typeface="Arial"/>
                <a:cs typeface="Arial"/>
                <a:sym typeface="Arial"/>
              </a:rPr>
              <a:t>KEY CHALLENGES AND MITIGATION: rural connectivity gaps are addressed through offline-first design; farmer adoption and trust through multilingual and explainable recommendations; limited crop-specific data by starting with major crops and improving with usage; and variable market, storage and transport conditions through continuous re-optimization.</a:t>
            </a:r>
            <a:endParaRPr sz="1300">
              <a:solidFill>
                <a:schemeClr val="dk1"/>
              </a:solidFill>
            </a:endParaRPr>
          </a:p>
        </p:txBody>
      </p:sp>
      <p:pic>
        <p:nvPicPr>
          <p:cNvPr descr="This feasibility and viability slide explains why AgriNexus can be developed and adopted. FEASIBILITY: proven AI/ML methods can support quality and shelf-life prediction; existing data sources include Agmarknet, eNAM and IMD; and an MVP can start with one or two crops in one FPO. The central graphic represents a solution that is feasible today, scalable tomorrow and intended to create impact for farmers. VIABILITY: the proposed value benefits are lower cost, less spoilage and higher realized returns; the platform is designed to work with the existing FPO ecosystem and trust structures; and it has a path to scale from rule-based logic to later ML upgrades. PRACTICAL ROLLOUT has three stages: Pilot with 1–2 high-value crops in one FPO, Validate by testing and refining with real outcomes, and Expand across crops, regions and FPOs. The slide states that no major hardware investment is required. KEY CHALLENGES AND MITIGATION: rural connectivity gaps are addressed through offline-first design; farmer adoption and trust through multilingual and explainable recommendations; limited crop-specific data by starting with major crops and improving with usage; and variable market, storage and transport conditions through continuous re-optimization." id="93" name="Google Shape;93;p10" title="AI-readable explanation for slide 4"/>
          <p:cNvPicPr preferRelativeResize="0"/>
          <p:nvPr/>
        </p:nvPicPr>
        <p:blipFill rotWithShape="1">
          <a:blip r:embed="rId5">
            <a:alphaModFix/>
          </a:blip>
          <a:srcRect b="8827" l="0" r="0" t="13744"/>
          <a:stretch/>
        </p:blipFill>
        <p:spPr>
          <a:xfrm>
            <a:off x="561075" y="1188425"/>
            <a:ext cx="11084798" cy="5159562"/>
          </a:xfrm>
          <a:prstGeom prst="rect">
            <a:avLst/>
          </a:prstGeom>
          <a:noFill/>
          <a:ln>
            <a:noFill/>
          </a:ln>
        </p:spPr>
      </p:pic>
      <p:sp>
        <p:nvSpPr>
          <p:cNvPr id="94" name="Google Shape;94;p10"/>
          <p:cNvSpPr txBox="1"/>
          <p:nvPr/>
        </p:nvSpPr>
        <p:spPr>
          <a:xfrm>
            <a:off x="2983225" y="6356350"/>
            <a:ext cx="59214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rgbClr val="FFFFFF"/>
                </a:solidFill>
                <a:latin typeface="Oswald"/>
                <a:ea typeface="Oswald"/>
                <a:cs typeface="Oswald"/>
                <a:sym typeface="Oswald"/>
              </a:rPr>
              <a:t>SMART INDIA HACKATHON 2026</a:t>
            </a:r>
            <a:endParaRPr sz="2100">
              <a:solidFill>
                <a:srgbClr val="FFFFFF"/>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descr="$PPTXTitle" id="99" name="Google Shape;99;p11"/>
          <p:cNvSpPr txBox="1"/>
          <p:nvPr>
            <p:ph type="title"/>
          </p:nvPr>
        </p:nvSpPr>
        <p:spPr>
          <a:xfrm>
            <a:off x="2622143" y="236778"/>
            <a:ext cx="6954062" cy="574040"/>
          </a:xfrm>
          <a:prstGeom prst="rect">
            <a:avLst/>
          </a:prstGeom>
          <a:noFill/>
          <a:ln>
            <a:noFill/>
          </a:ln>
        </p:spPr>
        <p:txBody>
          <a:bodyPr anchorCtr="0" anchor="t" bIns="0" lIns="0" spcFirstLastPara="1" rIns="0" wrap="square" tIns="12700">
            <a:spAutoFit/>
          </a:bodyPr>
          <a:lstStyle/>
          <a:p>
            <a:pPr indent="0" lvl="0" marL="840105" rtl="0" algn="l">
              <a:lnSpc>
                <a:spcPct val="100000"/>
              </a:lnSpc>
              <a:spcBef>
                <a:spcPts val="0"/>
              </a:spcBef>
              <a:spcAft>
                <a:spcPts val="0"/>
              </a:spcAft>
              <a:buSzPts val="1400"/>
              <a:buNone/>
            </a:pPr>
            <a:r>
              <a:rPr lang="en-US"/>
              <a:t>IMPACT AND BENEFITS</a:t>
            </a:r>
            <a:endParaRPr/>
          </a:p>
        </p:txBody>
      </p:sp>
      <p:pic>
        <p:nvPicPr>
          <p:cNvPr descr="IMAGE EXPLANATION — SMART INDIA HACKATHON BRANDING: This image identifies the project presentation as part of Smart India Hackathon 2026." id="100" name="Google Shape;100;p11" title="AI-readable visual description"/>
          <p:cNvPicPr preferRelativeResize="0"/>
          <p:nvPr/>
        </p:nvPicPr>
        <p:blipFill rotWithShape="1">
          <a:blip r:embed="rId3">
            <a:alphaModFix/>
          </a:blip>
          <a:srcRect b="0" l="0" r="0" t="0"/>
          <a:stretch/>
        </p:blipFill>
        <p:spPr>
          <a:xfrm>
            <a:off x="9780117" y="1079"/>
            <a:ext cx="2249638" cy="1061999"/>
          </a:xfrm>
          <a:prstGeom prst="rect">
            <a:avLst/>
          </a:prstGeom>
          <a:noFill/>
          <a:ln>
            <a:noFill/>
          </a:ln>
        </p:spPr>
      </p:pic>
      <p:sp>
        <p:nvSpPr>
          <p:cNvPr id="101" name="Google Shape;101;p11"/>
          <p:cNvSpPr txBox="1"/>
          <p:nvPr>
            <p:ph idx="12" type="sldNum"/>
          </p:nvPr>
        </p:nvSpPr>
        <p:spPr>
          <a:xfrm>
            <a:off x="11361305" y="6445462"/>
            <a:ext cx="180975" cy="203200"/>
          </a:xfrm>
          <a:prstGeom prst="rect">
            <a:avLst/>
          </a:prstGeom>
          <a:noFill/>
          <a:ln>
            <a:noFill/>
          </a:ln>
        </p:spPr>
        <p:txBody>
          <a:bodyPr anchorCtr="0" anchor="t" bIns="0" lIns="0" spcFirstLastPara="1" rIns="0" wrap="square" tIns="1250">
            <a:spAutoFit/>
          </a:bodyPr>
          <a:lstStyle/>
          <a:p>
            <a:pPr indent="0" lvl="0" marL="38100" rtl="0" algn="l">
              <a:lnSpc>
                <a:spcPct val="100000"/>
              </a:lnSpc>
              <a:spcBef>
                <a:spcPts val="0"/>
              </a:spcBef>
              <a:spcAft>
                <a:spcPts val="0"/>
              </a:spcAft>
              <a:buSzPts val="1200"/>
              <a:buNone/>
            </a:pPr>
            <a:fld id="{00000000-1234-1234-1234-123412341234}" type="slidenum">
              <a:rPr lang="en-US"/>
              <a:t>‹#›</a:t>
            </a:fld>
            <a:endParaRPr/>
          </a:p>
        </p:txBody>
      </p:sp>
      <p:pic>
        <p:nvPicPr>
          <p:cNvPr descr="AgriNexus logo: green agricultural leaf branding with the tagline 'Smarter Decisions. Stronger Farmers.' representing a farmer-focused digital agriculture platform." id="102" name="Google Shape;102;p11" title="AI-readable logo description"/>
          <p:cNvPicPr preferRelativeResize="0"/>
          <p:nvPr/>
        </p:nvPicPr>
        <p:blipFill rotWithShape="1">
          <a:blip r:embed="rId4">
            <a:alphaModFix/>
          </a:blip>
          <a:srcRect b="0" l="0" r="0" t="0"/>
          <a:stretch/>
        </p:blipFill>
        <p:spPr>
          <a:xfrm>
            <a:off x="70682" y="95375"/>
            <a:ext cx="1466926" cy="487850"/>
          </a:xfrm>
          <a:prstGeom prst="rect">
            <a:avLst/>
          </a:prstGeom>
          <a:noFill/>
          <a:ln>
            <a:noFill/>
          </a:ln>
        </p:spPr>
      </p:pic>
      <p:sp>
        <p:nvSpPr>
          <p:cNvPr id="103" name="Google Shape;103;p11"/>
          <p:cNvSpPr txBox="1"/>
          <p:nvPr/>
        </p:nvSpPr>
        <p:spPr>
          <a:xfrm>
            <a:off x="1248000" y="1342150"/>
            <a:ext cx="9715800" cy="466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This slide presents the intended post-harvest workflow, impact and benefits of AgriNexus.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TOP FLOW:</a:t>
            </a:r>
            <a:r>
              <a:rPr lang="en-US" sz="1100">
                <a:solidFill>
                  <a:schemeClr val="dk1"/>
                </a:solidFill>
              </a:rPr>
              <a:t> The workflow begins with a </a:t>
            </a:r>
            <a:r>
              <a:rPr b="1" lang="en-US" sz="1100">
                <a:solidFill>
                  <a:schemeClr val="dk1"/>
                </a:solidFill>
              </a:rPr>
              <a:t>Harvested Batch</a:t>
            </a:r>
            <a:r>
              <a:rPr lang="en-US" sz="1100">
                <a:solidFill>
                  <a:schemeClr val="dk1"/>
                </a:solidFill>
              </a:rPr>
              <a:t>, where the quality, shelf-life assurance and risk of spoilage are assessed. This is followed by </a:t>
            </a:r>
            <a:r>
              <a:rPr b="1" lang="en-US" sz="1100">
                <a:solidFill>
                  <a:schemeClr val="dk1"/>
                </a:solidFill>
              </a:rPr>
              <a:t>Risk + Market Assessment</a:t>
            </a:r>
            <a:r>
              <a:rPr lang="en-US" sz="1100">
                <a:solidFill>
                  <a:schemeClr val="dk1"/>
                </a:solidFill>
              </a:rPr>
              <a:t>, which identifies the urgency of the batch and the available value opportunity. Based on these insights, </a:t>
            </a:r>
            <a:r>
              <a:rPr b="1" lang="en-US" sz="1100">
                <a:solidFill>
                  <a:schemeClr val="dk1"/>
                </a:solidFill>
              </a:rPr>
              <a:t>Timely Action</a:t>
            </a:r>
            <a:r>
              <a:rPr lang="en-US" sz="1100">
                <a:solidFill>
                  <a:schemeClr val="dk1"/>
                </a:solidFill>
              </a:rPr>
              <a:t> is taken to decide whether the batch should be moved, held or redirected. The final outcome is </a:t>
            </a:r>
            <a:r>
              <a:rPr b="1" lang="en-US" sz="1100">
                <a:solidFill>
                  <a:schemeClr val="dk1"/>
                </a:solidFill>
              </a:rPr>
              <a:t>Value Preserved</a:t>
            </a:r>
            <a:r>
              <a:rPr lang="en-US" sz="1100">
                <a:solidFill>
                  <a:schemeClr val="dk1"/>
                </a:solidFill>
              </a:rPr>
              <a:t>, with the objective of achieving less avoidable loss and better realized value from the harvested produce.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IMPACT:</a:t>
            </a:r>
            <a:r>
              <a:rPr lang="en-US" sz="1100">
                <a:solidFill>
                  <a:schemeClr val="dk1"/>
                </a:solidFill>
              </a:rPr>
              <a:t> The overall impact of AgriNexus is to support timely, data-driven post-harvest decisions that reduce avoidable losses and help preserve the value of produce. By connecting batch assessment, market and risk evaluation, and timely action, the solution aims to improve realized value and sales while enabling better coordination between batch, market and cluster-level decisions.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BENEFITS:</a:t>
            </a:r>
            <a:r>
              <a:rPr lang="en-US" sz="1100">
                <a:solidFill>
                  <a:schemeClr val="dk1"/>
                </a:solidFill>
              </a:rPr>
              <a:t> The major benefits are: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Lower Post-Harvest Loss:</a:t>
            </a:r>
            <a:r>
              <a:rPr lang="en-US" sz="1100">
                <a:solidFill>
                  <a:schemeClr val="dk1"/>
                </a:solidFill>
              </a:rPr>
              <a:t> Spoilage-risk detection, batch prioritization and alternate-channel routing help reduce avoidable losses.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Higher Value for Farmers:</a:t>
            </a:r>
            <a:r>
              <a:rPr lang="en-US" sz="1100">
                <a:solidFill>
                  <a:schemeClr val="dk1"/>
                </a:solidFill>
              </a:rPr>
              <a:t> Better timing, reduced uncertainty and improved realized value help farmers achieve better outcomes from their produce.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Stronger Farmer Clusters:</a:t>
            </a:r>
            <a:r>
              <a:rPr lang="en-US" sz="1100">
                <a:solidFill>
                  <a:schemeClr val="dk1"/>
                </a:solidFill>
              </a:rPr>
              <a:t> Coordinated batches, pooled storage and transport, and improved bargaining strengthen cluster-level and FPO-level coordination.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More Efficient Supply Chain:</a:t>
            </a:r>
            <a:r>
              <a:rPr lang="en-US" sz="1100">
                <a:solidFill>
                  <a:schemeClr val="dk1"/>
                </a:solidFill>
              </a:rPr>
              <a:t> Faster decisions, better coordination and more usable produce help improve supply-chain efficiency.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At the </a:t>
            </a:r>
            <a:r>
              <a:rPr b="1" lang="en-US" sz="1100">
                <a:solidFill>
                  <a:schemeClr val="dk1"/>
                </a:solidFill>
              </a:rPr>
              <a:t>cluster level</a:t>
            </a:r>
            <a:r>
              <a:rPr lang="en-US" sz="1100">
                <a:solidFill>
                  <a:schemeClr val="dk1"/>
                </a:solidFill>
              </a:rPr>
              <a:t>, multiple batches can be coordinated through an </a:t>
            </a:r>
            <a:r>
              <a:rPr b="1" lang="en-US" sz="1100">
                <a:solidFill>
                  <a:schemeClr val="dk1"/>
                </a:solidFill>
              </a:rPr>
              <a:t>FPO</a:t>
            </a:r>
            <a:r>
              <a:rPr lang="en-US" sz="1100">
                <a:solidFill>
                  <a:schemeClr val="dk1"/>
                </a:solidFill>
              </a:rPr>
              <a:t> using shared storage and transport, helping reduce duplication in logistics. The </a:t>
            </a:r>
            <a:r>
              <a:rPr b="1" lang="en-US" sz="1100">
                <a:solidFill>
                  <a:schemeClr val="dk1"/>
                </a:solidFill>
              </a:rPr>
              <a:t>Before → With AgriNexus</a:t>
            </a:r>
            <a:r>
              <a:rPr lang="en-US" sz="1100">
                <a:solidFill>
                  <a:schemeClr val="dk1"/>
                </a:solidFill>
              </a:rPr>
              <a:t> visual represents the shift from fragmented operations to coordinated </a:t>
            </a:r>
            <a:r>
              <a:rPr b="1" lang="en-US" sz="1100">
                <a:solidFill>
                  <a:schemeClr val="dk1"/>
                </a:solidFill>
              </a:rPr>
              <a:t>Batch + Market + Cluster</a:t>
            </a:r>
            <a:r>
              <a:rPr lang="en-US" sz="1100">
                <a:solidFill>
                  <a:schemeClr val="dk1"/>
                </a:solidFill>
              </a:rPr>
              <a:t> decisions.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 slide also defines </a:t>
            </a:r>
            <a:r>
              <a:rPr b="1" lang="en-US" sz="1100">
                <a:solidFill>
                  <a:schemeClr val="dk1"/>
                </a:solidFill>
              </a:rPr>
              <a:t>Pilot KPIs</a:t>
            </a:r>
            <a:r>
              <a:rPr lang="en-US" sz="1100">
                <a:solidFill>
                  <a:schemeClr val="dk1"/>
                </a:solidFill>
              </a:rPr>
              <a:t> to validate the solution’s impact, focusing on </a:t>
            </a:r>
            <a:r>
              <a:rPr b="1" lang="en-US" sz="1100">
                <a:solidFill>
                  <a:schemeClr val="dk1"/>
                </a:solidFill>
              </a:rPr>
              <a:t>Loss ↓, Value ↑ and Sales ↑</a:t>
            </a:r>
            <a:r>
              <a:rPr lang="en-US" sz="1100">
                <a:solidFill>
                  <a:schemeClr val="dk1"/>
                </a:solidFill>
              </a:rPr>
              <a:t>.</a:t>
            </a:r>
            <a:endParaRPr sz="1100">
              <a:solidFill>
                <a:schemeClr val="dk1"/>
              </a:solidFill>
            </a:endParaRPr>
          </a:p>
          <a:p>
            <a:pPr indent="0" lvl="0" marL="0" rtl="0" algn="l">
              <a:spcBef>
                <a:spcPts val="1200"/>
              </a:spcBef>
              <a:spcAft>
                <a:spcPts val="0"/>
              </a:spcAft>
              <a:buNone/>
            </a:pPr>
            <a:r>
              <a:t/>
            </a:r>
            <a:endParaRPr sz="1800">
              <a:solidFill>
                <a:schemeClr val="dk1"/>
              </a:solidFill>
            </a:endParaRPr>
          </a:p>
        </p:txBody>
      </p:sp>
      <p:pic>
        <p:nvPicPr>
          <p:cNvPr descr="IMAGE EXPLANATION — AGRINEXUS PROCESS/CONCEPT VISUAL: This visual represents the central AgriNexus idea of connecting agricultural data and AI decision intelligence to practical post-harvest actions. It supports the message that a farmer can evaluate the condition and expected value of a crop batch and choose among sell, store, process or redirect options using data-driven recommendations." id="104" name="Google Shape;104;p11" title="AI-readable visual description"/>
          <p:cNvPicPr preferRelativeResize="0"/>
          <p:nvPr/>
        </p:nvPicPr>
        <p:blipFill rotWithShape="1">
          <a:blip r:embed="rId5">
            <a:alphaModFix/>
          </a:blip>
          <a:srcRect b="23349" l="0" r="0" t="17571"/>
          <a:stretch/>
        </p:blipFill>
        <p:spPr>
          <a:xfrm>
            <a:off x="1182625" y="1253575"/>
            <a:ext cx="9826749" cy="1659553"/>
          </a:xfrm>
          <a:prstGeom prst="rect">
            <a:avLst/>
          </a:prstGeom>
          <a:noFill/>
          <a:ln>
            <a:noFill/>
          </a:ln>
        </p:spPr>
      </p:pic>
      <p:pic>
        <p:nvPicPr>
          <p:cNvPr descr="IMAGE EXPLANATION — IMPACT AND BENEFITS: This visual summarizes the intended impact of AgriNexus on post-harvest agricultural decisions. The workflow connects batch data, AI-based quality and spoilage assessment, market price/demand intelligence, scenario analysis and optimization to a recommended action. Expected benefits include reducing avoidable post-harvest losses, improving timing of sale or storage, enabling better processing/redirect decisions, increasing decision transparency, supporting farmer income/profitability and improving resource utilization. The system is designed to turn scattered agricultural information into timely, actionable decisions." id="105" name="Google Shape;105;p11" title="AI-readable visual description"/>
          <p:cNvPicPr preferRelativeResize="0"/>
          <p:nvPr/>
        </p:nvPicPr>
        <p:blipFill rotWithShape="1">
          <a:blip r:embed="rId6">
            <a:alphaModFix/>
          </a:blip>
          <a:srcRect b="0" l="0" r="0" t="35438"/>
          <a:stretch/>
        </p:blipFill>
        <p:spPr>
          <a:xfrm>
            <a:off x="305475" y="2817875"/>
            <a:ext cx="11581051" cy="3546450"/>
          </a:xfrm>
          <a:prstGeom prst="rect">
            <a:avLst/>
          </a:prstGeom>
          <a:noFill/>
          <a:ln>
            <a:noFill/>
          </a:ln>
        </p:spPr>
      </p:pic>
      <p:sp>
        <p:nvSpPr>
          <p:cNvPr id="106" name="Google Shape;106;p11"/>
          <p:cNvSpPr txBox="1"/>
          <p:nvPr/>
        </p:nvSpPr>
        <p:spPr>
          <a:xfrm>
            <a:off x="2983225" y="6356350"/>
            <a:ext cx="59214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rgbClr val="FFFFFF"/>
                </a:solidFill>
                <a:latin typeface="Oswald"/>
                <a:ea typeface="Oswald"/>
                <a:cs typeface="Oswald"/>
                <a:sym typeface="Oswald"/>
              </a:rPr>
              <a:t>SMART INDIA HACKATHON 2026</a:t>
            </a:r>
            <a:endParaRPr sz="2100">
              <a:solidFill>
                <a:srgbClr val="FFFFFF"/>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sp>
        <p:nvSpPr>
          <p:cNvPr descr="$PPTXTitle" id="111" name="Google Shape;111;p12"/>
          <p:cNvSpPr txBox="1"/>
          <p:nvPr>
            <p:ph type="title"/>
          </p:nvPr>
        </p:nvSpPr>
        <p:spPr>
          <a:xfrm>
            <a:off x="2622143" y="236778"/>
            <a:ext cx="6954000" cy="57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RESEARCH AND REFERENCES</a:t>
            </a:r>
            <a:endParaRPr/>
          </a:p>
        </p:txBody>
      </p:sp>
      <p:sp>
        <p:nvSpPr>
          <p:cNvPr id="112" name="Google Shape;112;p12"/>
          <p:cNvSpPr txBox="1"/>
          <p:nvPr>
            <p:ph idx="1" type="body"/>
          </p:nvPr>
        </p:nvSpPr>
        <p:spPr>
          <a:xfrm>
            <a:off x="792475" y="2195550"/>
            <a:ext cx="5971800" cy="890100"/>
          </a:xfrm>
          <a:prstGeom prst="rect">
            <a:avLst/>
          </a:prstGeom>
          <a:noFill/>
          <a:ln>
            <a:noFill/>
          </a:ln>
        </p:spPr>
        <p:txBody>
          <a:bodyPr anchorCtr="0" anchor="t" bIns="0" lIns="0" spcFirstLastPara="1" rIns="0" wrap="square" tIns="12700">
            <a:spAutoFit/>
          </a:bodyPr>
          <a:lstStyle/>
          <a:p>
            <a:pPr indent="0" lvl="0" marL="0" marR="5715" rtl="0" algn="just">
              <a:lnSpc>
                <a:spcPct val="100000"/>
              </a:lnSpc>
              <a:spcBef>
                <a:spcPts val="0"/>
              </a:spcBef>
              <a:spcAft>
                <a:spcPts val="0"/>
              </a:spcAft>
              <a:buSzPts val="1400"/>
              <a:buNone/>
            </a:pPr>
            <a:r>
              <a:t/>
            </a:r>
            <a:endParaRPr/>
          </a:p>
          <a:p>
            <a:pPr indent="0" lvl="0" marL="12700" marR="5715" rtl="0" algn="just">
              <a:lnSpc>
                <a:spcPct val="100000"/>
              </a:lnSpc>
              <a:spcBef>
                <a:spcPts val="0"/>
              </a:spcBef>
              <a:spcAft>
                <a:spcPts val="0"/>
              </a:spcAft>
              <a:buSzPts val="1400"/>
              <a:buNone/>
            </a:pPr>
            <a:r>
              <a:t/>
            </a:r>
            <a:endParaRPr/>
          </a:p>
          <a:p>
            <a:pPr indent="0" lvl="0" marL="12700" marR="5715" rtl="0" algn="just">
              <a:lnSpc>
                <a:spcPct val="100000"/>
              </a:lnSpc>
              <a:spcBef>
                <a:spcPts val="359"/>
              </a:spcBef>
              <a:spcAft>
                <a:spcPts val="0"/>
              </a:spcAft>
              <a:buSzPts val="1400"/>
              <a:buNone/>
            </a:pPr>
            <a:r>
              <a:t/>
            </a:r>
            <a:endParaRPr/>
          </a:p>
        </p:txBody>
      </p:sp>
      <p:sp>
        <p:nvSpPr>
          <p:cNvPr id="113" name="Google Shape;113;p12"/>
          <p:cNvSpPr txBox="1"/>
          <p:nvPr/>
        </p:nvSpPr>
        <p:spPr>
          <a:xfrm>
            <a:off x="686422" y="4323854"/>
            <a:ext cx="105900" cy="289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 name="Google Shape;114;p12"/>
          <p:cNvSpPr txBox="1"/>
          <p:nvPr/>
        </p:nvSpPr>
        <p:spPr>
          <a:xfrm>
            <a:off x="9780117" y="1079"/>
            <a:ext cx="2249639" cy="1061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 u="none" cap="none" strike="noStrike">
                <a:solidFill>
                  <a:srgbClr val="FFFFFF"/>
                </a:solidFill>
                <a:latin typeface="Arial"/>
                <a:ea typeface="Arial"/>
                <a:cs typeface="Arial"/>
                <a:sym typeface="Arial"/>
              </a:rPr>
              <a:t>This slide lists research and reference sources used for the AgriNexus concept: Soil Health Card from the Ministry of Agriculture and Farmers Welfare/NIC; AGMARKNET from the Government of India; e-NAM, the National Agriculture Market; India Meteorological Department (IMD); Indian Council of Agricultural Research (ICAR); and ICAR Crop Agro-Advisories. The stated research gap is that existing platforms provide separate agricultural services, while AgriNexus proposes integrating them into one AI-powered farmer platform. The stated key objective is to help farmers make timely, data-driven decisions, reduce avoidable farming losses and improve overall crop profitability.</a:t>
            </a:r>
            <a:endParaRPr/>
          </a:p>
        </p:txBody>
      </p:sp>
      <p:pic>
        <p:nvPicPr>
          <p:cNvPr descr="IMAGE EXPLANATION — SMART INDIA HACKATHON BRANDING: This image identifies the presentation as a Smart India Hackathon 2026 submission." id="115" name="Google Shape;115;p12" title="AI-readable visual description"/>
          <p:cNvPicPr preferRelativeResize="0"/>
          <p:nvPr/>
        </p:nvPicPr>
        <p:blipFill rotWithShape="1">
          <a:blip r:embed="rId3">
            <a:alphaModFix/>
          </a:blip>
          <a:srcRect b="0" l="0" r="0" t="0"/>
          <a:stretch/>
        </p:blipFill>
        <p:spPr>
          <a:xfrm>
            <a:off x="9780117" y="1079"/>
            <a:ext cx="2249638" cy="1061999"/>
          </a:xfrm>
          <a:prstGeom prst="rect">
            <a:avLst/>
          </a:prstGeom>
          <a:noFill/>
          <a:ln>
            <a:noFill/>
          </a:ln>
        </p:spPr>
      </p:pic>
      <p:sp>
        <p:nvSpPr>
          <p:cNvPr id="116" name="Google Shape;116;p12"/>
          <p:cNvSpPr txBox="1"/>
          <p:nvPr>
            <p:ph idx="11" type="ftr"/>
          </p:nvPr>
        </p:nvSpPr>
        <p:spPr>
          <a:xfrm>
            <a:off x="4993817" y="6445462"/>
            <a:ext cx="2508300" cy="203100"/>
          </a:xfrm>
          <a:prstGeom prst="rect">
            <a:avLst/>
          </a:prstGeom>
          <a:noFill/>
          <a:ln>
            <a:noFill/>
          </a:ln>
        </p:spPr>
        <p:txBody>
          <a:bodyPr anchorCtr="0" anchor="t" bIns="0" lIns="0" spcFirstLastPara="1" rIns="0" wrap="square" tIns="1250">
            <a:spAutoFit/>
          </a:bodyPr>
          <a:lstStyle/>
          <a:p>
            <a:pPr indent="0" lvl="0" marL="12700" rtl="0" algn="l">
              <a:lnSpc>
                <a:spcPct val="100000"/>
              </a:lnSpc>
              <a:spcBef>
                <a:spcPts val="0"/>
              </a:spcBef>
              <a:spcAft>
                <a:spcPts val="0"/>
              </a:spcAft>
              <a:buSzPts val="1400"/>
              <a:buNone/>
            </a:pPr>
            <a:r>
              <a:rPr lang="en-US"/>
              <a:t>@SIH Idea submission- Template</a:t>
            </a:r>
            <a:endParaRPr/>
          </a:p>
        </p:txBody>
      </p:sp>
      <p:sp>
        <p:nvSpPr>
          <p:cNvPr id="117" name="Google Shape;117;p12"/>
          <p:cNvSpPr txBox="1"/>
          <p:nvPr>
            <p:ph idx="12" type="sldNum"/>
          </p:nvPr>
        </p:nvSpPr>
        <p:spPr>
          <a:xfrm>
            <a:off x="11361305" y="6445462"/>
            <a:ext cx="180900" cy="203100"/>
          </a:xfrm>
          <a:prstGeom prst="rect">
            <a:avLst/>
          </a:prstGeom>
          <a:noFill/>
          <a:ln>
            <a:noFill/>
          </a:ln>
        </p:spPr>
        <p:txBody>
          <a:bodyPr anchorCtr="0" anchor="t" bIns="0" lIns="0" spcFirstLastPara="1" rIns="0" wrap="square" tIns="1250">
            <a:spAutoFit/>
          </a:bodyPr>
          <a:lstStyle/>
          <a:p>
            <a:pPr indent="0" lvl="0" marL="38100" rtl="0" algn="l">
              <a:lnSpc>
                <a:spcPct val="100000"/>
              </a:lnSpc>
              <a:spcBef>
                <a:spcPts val="0"/>
              </a:spcBef>
              <a:spcAft>
                <a:spcPts val="0"/>
              </a:spcAft>
              <a:buSzPts val="1200"/>
              <a:buNone/>
            </a:pPr>
            <a:fld id="{00000000-1234-1234-1234-123412341234}" type="slidenum">
              <a:rPr lang="en-US"/>
              <a:t>‹#›</a:t>
            </a:fld>
            <a:endParaRPr/>
          </a:p>
        </p:txBody>
      </p:sp>
      <p:sp>
        <p:nvSpPr>
          <p:cNvPr id="118" name="Google Shape;118;p12"/>
          <p:cNvSpPr txBox="1"/>
          <p:nvPr/>
        </p:nvSpPr>
        <p:spPr>
          <a:xfrm>
            <a:off x="7685575" y="1146125"/>
            <a:ext cx="3669600" cy="472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 name="Google Shape;119;p12"/>
          <p:cNvSpPr txBox="1"/>
          <p:nvPr/>
        </p:nvSpPr>
        <p:spPr>
          <a:xfrm>
            <a:off x="1908100" y="1045513"/>
            <a:ext cx="9009600" cy="5165100"/>
          </a:xfrm>
          <a:prstGeom prst="rect">
            <a:avLst/>
          </a:prstGeom>
          <a:noFill/>
          <a:ln>
            <a:noFill/>
          </a:ln>
        </p:spPr>
        <p:txBody>
          <a:bodyPr anchorCtr="0" anchor="t" bIns="91425" lIns="91425" spcFirstLastPara="1" rIns="91425" wrap="square" tIns="91425">
            <a:noAutofit/>
          </a:bodyPr>
          <a:lstStyle/>
          <a:p>
            <a:pPr indent="0" lvl="0" marL="12700" marR="5715" rtl="0" algn="just">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1. Soil Health Card – Ministry of Agriculture &amp; Farmers Welfare / NIC </a:t>
            </a:r>
            <a:endParaRPr b="1" i="0" sz="1800" u="none" cap="none" strike="noStrike">
              <a:solidFill>
                <a:schemeClr val="dk1"/>
              </a:solidFill>
              <a:latin typeface="Arial"/>
              <a:ea typeface="Arial"/>
              <a:cs typeface="Arial"/>
              <a:sym typeface="Arial"/>
            </a:endParaRPr>
          </a:p>
          <a:p>
            <a:pPr indent="0" lvl="0" marL="12700" marR="5715"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Arial"/>
                <a:ea typeface="Arial"/>
                <a:cs typeface="Arial"/>
                <a:sym typeface="Arial"/>
                <a:hlinkClick r:id="rId4"/>
              </a:rPr>
              <a:t>https://soilhealth.dac.gov.in/</a:t>
            </a:r>
            <a:endParaRPr b="1"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2. AGMARKNET – Government of India </a:t>
            </a:r>
            <a:endParaRPr b="1" i="0" sz="1800" u="none" cap="none" strike="noStrike">
              <a:solidFill>
                <a:schemeClr val="dk1"/>
              </a:solidFill>
              <a:latin typeface="Arial"/>
              <a:ea typeface="Arial"/>
              <a:cs typeface="Arial"/>
              <a:sym typeface="Arial"/>
            </a:endParaRPr>
          </a:p>
          <a:p>
            <a:pPr indent="0" lvl="0" marL="12700" marR="5715"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Arial"/>
                <a:ea typeface="Arial"/>
                <a:cs typeface="Arial"/>
                <a:sym typeface="Arial"/>
                <a:hlinkClick r:id="rId5"/>
              </a:rPr>
              <a:t>https://agmarknet.gov.in/</a:t>
            </a:r>
            <a:endParaRPr b="1"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3. e-NAM – National Agriculture Market </a:t>
            </a:r>
            <a:endParaRPr b="1" i="0" sz="1800" u="none" cap="none" strike="noStrike">
              <a:solidFill>
                <a:schemeClr val="dk1"/>
              </a:solidFill>
              <a:latin typeface="Arial"/>
              <a:ea typeface="Arial"/>
              <a:cs typeface="Arial"/>
              <a:sym typeface="Arial"/>
            </a:endParaRPr>
          </a:p>
          <a:p>
            <a:pPr indent="0" lvl="0" marL="12700" marR="5715"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Arial"/>
                <a:ea typeface="Arial"/>
                <a:cs typeface="Arial"/>
                <a:sym typeface="Arial"/>
                <a:hlinkClick r:id="rId6"/>
              </a:rPr>
              <a:t>https://www.enam.gov.in/</a:t>
            </a:r>
            <a:endParaRPr b="1"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4.India Meteorological Department (IMD) </a:t>
            </a:r>
            <a:endParaRPr b="1" i="0" sz="1800" u="none" cap="none" strike="noStrike">
              <a:solidFill>
                <a:schemeClr val="dk1"/>
              </a:solidFill>
              <a:latin typeface="Arial"/>
              <a:ea typeface="Arial"/>
              <a:cs typeface="Arial"/>
              <a:sym typeface="Arial"/>
            </a:endParaRPr>
          </a:p>
          <a:p>
            <a:pPr indent="0" lvl="0" marL="12700" marR="5715"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Arial"/>
                <a:ea typeface="Arial"/>
                <a:cs typeface="Arial"/>
                <a:sym typeface="Arial"/>
                <a:hlinkClick r:id="rId7"/>
              </a:rPr>
              <a:t>https://mausam.imd.gov.in/</a:t>
            </a:r>
            <a:endParaRPr b="1"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5.ICAR – Indian Council of Agricultural Research</a:t>
            </a:r>
            <a:endParaRPr b="1" i="0" sz="1800" u="none" cap="none" strike="noStrike">
              <a:solidFill>
                <a:schemeClr val="dk1"/>
              </a:solidFill>
              <a:latin typeface="Arial"/>
              <a:ea typeface="Arial"/>
              <a:cs typeface="Arial"/>
              <a:sym typeface="Arial"/>
            </a:endParaRPr>
          </a:p>
          <a:p>
            <a:pPr indent="0" lvl="0" marL="12700" marR="5715"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Arial"/>
                <a:ea typeface="Arial"/>
                <a:cs typeface="Arial"/>
                <a:sym typeface="Arial"/>
                <a:hlinkClick r:id="rId8"/>
              </a:rPr>
              <a:t>https://icar.gov.in/</a:t>
            </a:r>
            <a:endParaRPr b="1"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6.ICAR Crop Agro-Advisories </a:t>
            </a:r>
            <a:endParaRPr b="1" i="0" sz="1800" u="none" cap="none" strike="noStrike">
              <a:solidFill>
                <a:schemeClr val="dk1"/>
              </a:solidFill>
              <a:latin typeface="Arial"/>
              <a:ea typeface="Arial"/>
              <a:cs typeface="Arial"/>
              <a:sym typeface="Arial"/>
            </a:endParaRPr>
          </a:p>
          <a:p>
            <a:pPr indent="0" lvl="0" marL="12700" marR="5715"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Arial"/>
                <a:ea typeface="Arial"/>
                <a:cs typeface="Arial"/>
                <a:sym typeface="Arial"/>
                <a:hlinkClick r:id="rId9"/>
              </a:rPr>
              <a:t>https://icar.gov.in/</a:t>
            </a:r>
            <a:endParaRPr b="1"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rPr b="1" i="0" lang="en-US" sz="1800" u="none" cap="none" strike="noStrike">
                <a:solidFill>
                  <a:srgbClr val="38761D"/>
                </a:solidFill>
                <a:latin typeface="Arial"/>
                <a:ea typeface="Arial"/>
                <a:cs typeface="Arial"/>
                <a:sym typeface="Arial"/>
              </a:rPr>
              <a:t>Research Gap</a:t>
            </a:r>
            <a:r>
              <a:rPr b="0" i="0" lang="en-US" sz="1800" u="none" cap="none" strike="noStrike">
                <a:solidFill>
                  <a:schemeClr val="dk1"/>
                </a:solidFill>
                <a:latin typeface="Arial"/>
                <a:ea typeface="Arial"/>
                <a:cs typeface="Arial"/>
                <a:sym typeface="Arial"/>
              </a:rPr>
              <a:t> - Existing platforms provide separate agricultural services; our solution integrates them into one AI-powered farmer platform.</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rgbClr val="38761D"/>
                </a:solidFill>
                <a:latin typeface="Arial"/>
                <a:ea typeface="Arial"/>
                <a:cs typeface="Arial"/>
                <a:sym typeface="Arial"/>
              </a:rPr>
              <a:t>Key Objective </a:t>
            </a:r>
            <a:r>
              <a:rPr b="1" i="0"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To help farmers make timely, data-driven decisions, reduce avoidable farming losses and improve overall crop profitability.</a:t>
            </a:r>
            <a:endParaRPr b="0" i="0" sz="1800" u="none" cap="none" strike="noStrike">
              <a:solidFill>
                <a:schemeClr val="dk1"/>
              </a:solidFill>
              <a:latin typeface="Arial"/>
              <a:ea typeface="Arial"/>
              <a:cs typeface="Arial"/>
              <a:sym typeface="Arial"/>
            </a:endParaRPr>
          </a:p>
          <a:p>
            <a:pPr indent="0" lvl="0" marL="12700" marR="5715" rtl="0" algn="just">
              <a:lnSpc>
                <a:spcPct val="100000"/>
              </a:lnSpc>
              <a:spcBef>
                <a:spcPts val="4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5715"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2700" marR="5715"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20" name="Google Shape;120;p12"/>
          <p:cNvSpPr txBox="1"/>
          <p:nvPr/>
        </p:nvSpPr>
        <p:spPr>
          <a:xfrm>
            <a:off x="4953000" y="6445450"/>
            <a:ext cx="2249700" cy="203100"/>
          </a:xfrm>
          <a:prstGeom prst="rect">
            <a:avLst/>
          </a:prstGeom>
          <a:solidFill>
            <a:srgbClr val="006FB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AgriNexus logo: green agricultural leaf branding with the tagline 'Smarter Decisions. Stronger Farmers.' representing a farmer-focused digital agriculture platform." id="121" name="Google Shape;121;p12" title="AI-readable logo description"/>
          <p:cNvPicPr preferRelativeResize="0"/>
          <p:nvPr/>
        </p:nvPicPr>
        <p:blipFill rotWithShape="1">
          <a:blip r:embed="rId10">
            <a:alphaModFix/>
          </a:blip>
          <a:srcRect b="0" l="0" r="0" t="0"/>
          <a:stretch/>
        </p:blipFill>
        <p:spPr>
          <a:xfrm>
            <a:off x="70682" y="95375"/>
            <a:ext cx="1466926" cy="487850"/>
          </a:xfrm>
          <a:prstGeom prst="rect">
            <a:avLst/>
          </a:prstGeom>
          <a:noFill/>
          <a:ln>
            <a:noFill/>
          </a:ln>
        </p:spPr>
      </p:pic>
      <p:sp>
        <p:nvSpPr>
          <p:cNvPr id="122" name="Google Shape;122;p12"/>
          <p:cNvSpPr txBox="1"/>
          <p:nvPr/>
        </p:nvSpPr>
        <p:spPr>
          <a:xfrm>
            <a:off x="2983225" y="6356350"/>
            <a:ext cx="59214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rgbClr val="FFFFFF"/>
                </a:solidFill>
                <a:latin typeface="Oswald"/>
                <a:ea typeface="Oswald"/>
                <a:cs typeface="Oswald"/>
                <a:sym typeface="Oswald"/>
              </a:rPr>
              <a:t>SMART INDIA HACKATHON 2026</a:t>
            </a:r>
            <a:endParaRPr sz="2100">
              <a:solidFill>
                <a:srgbClr val="FFFFFF"/>
              </a:solidFill>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